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1706" r:id="rId3"/>
    <p:sldId id="2352" r:id="rId4"/>
    <p:sldId id="2353" r:id="rId5"/>
    <p:sldId id="2354" r:id="rId6"/>
    <p:sldId id="2355" r:id="rId7"/>
    <p:sldId id="2415" r:id="rId8"/>
    <p:sldId id="2407" r:id="rId9"/>
    <p:sldId id="2383" r:id="rId10"/>
    <p:sldId id="2384" r:id="rId11"/>
    <p:sldId id="2385" r:id="rId12"/>
    <p:sldId id="2387" r:id="rId13"/>
    <p:sldId id="2371" r:id="rId14"/>
    <p:sldId id="2388" r:id="rId15"/>
    <p:sldId id="2390" r:id="rId16"/>
    <p:sldId id="2391" r:id="rId17"/>
    <p:sldId id="2392" r:id="rId18"/>
    <p:sldId id="2416" r:id="rId19"/>
    <p:sldId id="2393" r:id="rId20"/>
    <p:sldId id="2394" r:id="rId21"/>
    <p:sldId id="2395" r:id="rId22"/>
    <p:sldId id="2417" r:id="rId23"/>
    <p:sldId id="2362" r:id="rId24"/>
    <p:sldId id="2418" r:id="rId25"/>
    <p:sldId id="2397" r:id="rId26"/>
    <p:sldId id="2419" r:id="rId27"/>
    <p:sldId id="2398" r:id="rId28"/>
    <p:sldId id="2399" r:id="rId29"/>
    <p:sldId id="2400" r:id="rId30"/>
    <p:sldId id="2402" r:id="rId31"/>
    <p:sldId id="2403" r:id="rId32"/>
    <p:sldId id="2404" r:id="rId33"/>
    <p:sldId id="2420" r:id="rId34"/>
    <p:sldId id="2366" r:id="rId35"/>
    <p:sldId id="2406" r:id="rId36"/>
    <p:sldId id="2414" r:id="rId37"/>
    <p:sldId id="2421"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12" autoAdjust="0"/>
    <p:restoredTop sz="83871" autoAdjust="0"/>
  </p:normalViewPr>
  <p:slideViewPr>
    <p:cSldViewPr>
      <p:cViewPr varScale="1">
        <p:scale>
          <a:sx n="69" d="100"/>
          <a:sy n="69" d="100"/>
        </p:scale>
        <p:origin x="1800" y="67"/>
      </p:cViewPr>
      <p:guideLst>
        <p:guide orient="horz" pos="2160"/>
        <p:guide pos="2880"/>
      </p:guideLst>
    </p:cSldViewPr>
  </p:slideViewPr>
  <p:outlineViewPr>
    <p:cViewPr>
      <p:scale>
        <a:sx n="33" d="100"/>
        <a:sy n="33" d="100"/>
      </p:scale>
      <p:origin x="0" y="9282"/>
    </p:cViewPr>
  </p:outlineViewPr>
  <p:notesTextViewPr>
    <p:cViewPr>
      <p:scale>
        <a:sx n="100" d="100"/>
        <a:sy n="100" d="100"/>
      </p:scale>
      <p:origin x="0" y="0"/>
    </p:cViewPr>
  </p:notesTextViewPr>
  <p:sorterViewPr>
    <p:cViewPr>
      <p:scale>
        <a:sx n="66" d="100"/>
        <a:sy n="66" d="100"/>
      </p:scale>
      <p:origin x="0" y="522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6DE628-7F8F-401E-B596-092906AF19C7}" type="datetimeFigureOut">
              <a:rPr lang="en-US" smtClean="0"/>
              <a:pPr/>
              <a:t>4/18/2026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1F3690-CC04-4912-8425-CC51B02F4DC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Antipathy – </a:t>
            </a:r>
            <a:r>
              <a:rPr lang="en-US" sz="1200" b="0" i="0" kern="1200" dirty="0">
                <a:solidFill>
                  <a:schemeClr val="tx1"/>
                </a:solidFill>
                <a:effectLst/>
                <a:latin typeface="+mn-lt"/>
                <a:ea typeface="+mn-ea"/>
                <a:cs typeface="+mn-cs"/>
              </a:rPr>
              <a:t>a strong feeling of dislike, opposition or anger.</a:t>
            </a:r>
            <a:endParaRPr lang="en-US" b="0" baseline="0"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4</a:t>
            </a:fld>
            <a:endParaRPr lang="en-US"/>
          </a:p>
        </p:txBody>
      </p:sp>
    </p:spTree>
    <p:extLst>
      <p:ext uri="{BB962C8B-B14F-4D97-AF65-F5344CB8AC3E}">
        <p14:creationId xmlns:p14="http://schemas.microsoft.com/office/powerpoint/2010/main" val="738625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a:latin typeface="Times New Roman" panose="02020603050405020304" pitchFamily="18" charset="0"/>
                <a:cs typeface="Times New Roman" panose="02020603050405020304" pitchFamily="18" charset="0"/>
              </a:rPr>
              <a:t>Cacophony</a:t>
            </a:r>
            <a:r>
              <a:rPr lang="en-US" dirty="0"/>
              <a:t> – a harsh mixture of sounds</a:t>
            </a:r>
          </a:p>
          <a:p>
            <a:r>
              <a:rPr lang="en-US" sz="1200" dirty="0">
                <a:latin typeface="Times New Roman" panose="02020603050405020304" pitchFamily="18" charset="0"/>
                <a:cs typeface="Times New Roman" panose="02020603050405020304" pitchFamily="18" charset="0"/>
              </a:rPr>
              <a:t>Winding</a:t>
            </a:r>
            <a:r>
              <a:rPr lang="en-US" dirty="0"/>
              <a:t> – </a:t>
            </a:r>
            <a:r>
              <a:rPr lang="en-US" sz="1200" b="0" i="0" kern="1200" dirty="0">
                <a:solidFill>
                  <a:schemeClr val="tx1"/>
                </a:solidFill>
                <a:effectLst/>
                <a:latin typeface="+mn-lt"/>
                <a:ea typeface="+mn-ea"/>
                <a:cs typeface="+mn-cs"/>
              </a:rPr>
              <a:t>twisting movement or course</a:t>
            </a:r>
          </a:p>
          <a:p>
            <a:r>
              <a:rPr lang="en-US" sz="1200" dirty="0">
                <a:latin typeface="Times New Roman" panose="02020603050405020304" pitchFamily="18" charset="0"/>
                <a:cs typeface="Times New Roman" panose="02020603050405020304" pitchFamily="18" charset="0"/>
              </a:rPr>
              <a:t>Frenetic - </a:t>
            </a:r>
            <a:r>
              <a:rPr lang="en-US" sz="1200" b="0" i="0" kern="1200" dirty="0">
                <a:solidFill>
                  <a:schemeClr val="tx1"/>
                </a:solidFill>
                <a:effectLst/>
                <a:latin typeface="+mn-lt"/>
                <a:ea typeface="+mn-ea"/>
                <a:cs typeface="+mn-cs"/>
              </a:rPr>
              <a:t>fast and energetic in a rather wild and </a:t>
            </a:r>
            <a:r>
              <a:rPr lang="en-US" sz="1200" b="0" i="0" u="none" strike="noStrike" kern="1200" dirty="0">
                <a:solidFill>
                  <a:schemeClr val="tx1"/>
                </a:solidFill>
                <a:effectLst/>
                <a:latin typeface="+mn-lt"/>
                <a:ea typeface="+mn-ea"/>
                <a:cs typeface="+mn-cs"/>
              </a:rPr>
              <a:t>uncontrolled</a:t>
            </a:r>
            <a:r>
              <a:rPr lang="en-US" sz="1200" b="0" i="0" kern="1200" dirty="0">
                <a:solidFill>
                  <a:schemeClr val="tx1"/>
                </a:solidFill>
                <a:effectLst/>
                <a:latin typeface="+mn-lt"/>
                <a:ea typeface="+mn-ea"/>
                <a:cs typeface="+mn-cs"/>
              </a:rPr>
              <a:t> way</a:t>
            </a:r>
          </a:p>
          <a:p>
            <a:r>
              <a:rPr lang="en-US" sz="1200" b="0" i="0" kern="1200" dirty="0">
                <a:solidFill>
                  <a:schemeClr val="tx1"/>
                </a:solidFill>
                <a:effectLst/>
                <a:latin typeface="+mn-lt"/>
                <a:ea typeface="+mn-ea"/>
                <a:cs typeface="+mn-cs"/>
              </a:rPr>
              <a:t>Gravely – in a serious manner</a:t>
            </a:r>
          </a:p>
          <a:p>
            <a:r>
              <a:rPr lang="en-US" sz="1200" b="0" i="0" kern="1200" dirty="0">
                <a:solidFill>
                  <a:schemeClr val="tx1"/>
                </a:solidFill>
                <a:effectLst/>
                <a:latin typeface="+mn-lt"/>
                <a:ea typeface="+mn-ea"/>
                <a:cs typeface="+mn-cs"/>
              </a:rPr>
              <a:t>Anathema - refers to </a:t>
            </a:r>
            <a:r>
              <a:rPr lang="en-US" dirty="0"/>
              <a:t>something or someone intensely disliked, loathed, or shunned, often deemed completely contrary to one's principles</a:t>
            </a:r>
          </a:p>
          <a:p>
            <a:r>
              <a:rPr lang="en-US" dirty="0"/>
              <a:t>Echelons - </a:t>
            </a:r>
            <a:r>
              <a:rPr lang="en-US" sz="1200" b="0" i="0" kern="1200" dirty="0">
                <a:solidFill>
                  <a:schemeClr val="tx1"/>
                </a:solidFill>
                <a:effectLst/>
                <a:latin typeface="+mn-lt"/>
                <a:ea typeface="+mn-ea"/>
                <a:cs typeface="+mn-cs"/>
              </a:rPr>
              <a:t>a level or rank in an organization</a:t>
            </a:r>
          </a:p>
          <a:p>
            <a:r>
              <a:rPr lang="en-US" sz="1200" b="0" i="0" kern="1200" dirty="0">
                <a:solidFill>
                  <a:schemeClr val="tx1"/>
                </a:solidFill>
                <a:effectLst/>
                <a:latin typeface="+mn-lt"/>
                <a:ea typeface="+mn-ea"/>
                <a:cs typeface="+mn-cs"/>
              </a:rPr>
              <a:t>Imperious - </a:t>
            </a:r>
            <a:r>
              <a:rPr lang="en-US" sz="1200" b="0" i="0" u="none" strike="noStrike" kern="1200" dirty="0">
                <a:solidFill>
                  <a:schemeClr val="tx1"/>
                </a:solidFill>
                <a:effectLst/>
                <a:latin typeface="+mn-lt"/>
                <a:ea typeface="+mn-ea"/>
                <a:cs typeface="+mn-cs"/>
              </a:rPr>
              <a:t>arrogant</a:t>
            </a:r>
            <a:r>
              <a:rPr lang="en-US" sz="1200" b="0" i="0" kern="1200" dirty="0">
                <a:solidFill>
                  <a:schemeClr val="tx1"/>
                </a:solidFill>
                <a:effectLst/>
                <a:latin typeface="+mn-lt"/>
                <a:ea typeface="+mn-ea"/>
                <a:cs typeface="+mn-cs"/>
              </a:rPr>
              <a:t> and domineering</a:t>
            </a:r>
          </a:p>
          <a:p>
            <a:r>
              <a:rPr lang="en-US" sz="1200" b="0" i="0" kern="1200" dirty="0">
                <a:solidFill>
                  <a:schemeClr val="tx1"/>
                </a:solidFill>
                <a:effectLst/>
                <a:latin typeface="+mn-lt"/>
                <a:ea typeface="+mn-ea"/>
                <a:cs typeface="+mn-cs"/>
              </a:rPr>
              <a:t>Ordaining - order (something) officially</a:t>
            </a:r>
          </a:p>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5</a:t>
            </a:fld>
            <a:endParaRPr lang="en-US"/>
          </a:p>
        </p:txBody>
      </p:sp>
    </p:spTree>
    <p:extLst>
      <p:ext uri="{BB962C8B-B14F-4D97-AF65-F5344CB8AC3E}">
        <p14:creationId xmlns:p14="http://schemas.microsoft.com/office/powerpoint/2010/main" val="541279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a:latin typeface="Times New Roman" panose="02020603050405020304" pitchFamily="18" charset="0"/>
                <a:cs typeface="Times New Roman" panose="02020603050405020304" pitchFamily="18" charset="0"/>
              </a:rPr>
              <a:t>Idiosyncratic</a:t>
            </a:r>
            <a:r>
              <a:rPr lang="en-US" dirty="0"/>
              <a:t> – </a:t>
            </a:r>
            <a:r>
              <a:rPr lang="en-US" sz="1200" b="0" i="0" kern="1200" dirty="0">
                <a:solidFill>
                  <a:schemeClr val="tx1"/>
                </a:solidFill>
                <a:effectLst/>
                <a:latin typeface="+mn-lt"/>
                <a:ea typeface="+mn-ea"/>
                <a:cs typeface="+mn-cs"/>
              </a:rPr>
              <a:t>having strange or unusual habits, ways of behaving</a:t>
            </a:r>
          </a:p>
          <a:p>
            <a:r>
              <a:rPr lang="en-US" sz="1200" b="0" i="0" kern="1200" baseline="0" dirty="0">
                <a:solidFill>
                  <a:schemeClr val="tx1"/>
                </a:solidFill>
                <a:effectLst/>
                <a:latin typeface="+mn-lt"/>
                <a:ea typeface="+mn-ea"/>
                <a:cs typeface="+mn-cs"/>
              </a:rPr>
              <a:t>Decrees - </a:t>
            </a:r>
            <a:r>
              <a:rPr lang="en-US" sz="1200" b="0" i="0" kern="1200" dirty="0">
                <a:solidFill>
                  <a:schemeClr val="tx1"/>
                </a:solidFill>
                <a:effectLst/>
                <a:latin typeface="+mn-lt"/>
                <a:ea typeface="+mn-ea"/>
                <a:cs typeface="+mn-cs"/>
              </a:rPr>
              <a:t>an official order that has the force of law</a:t>
            </a:r>
          </a:p>
          <a:p>
            <a:r>
              <a:rPr lang="en-US" sz="1200" b="0" i="0" kern="1200" baseline="0" dirty="0">
                <a:solidFill>
                  <a:schemeClr val="tx1"/>
                </a:solidFill>
                <a:effectLst/>
                <a:latin typeface="+mn-lt"/>
                <a:ea typeface="+mn-ea"/>
                <a:cs typeface="+mn-cs"/>
              </a:rPr>
              <a:t>Impoverished - </a:t>
            </a:r>
            <a:r>
              <a:rPr lang="en-US" sz="1200" b="0" i="0" kern="1200" dirty="0">
                <a:solidFill>
                  <a:schemeClr val="tx1"/>
                </a:solidFill>
                <a:effectLst/>
                <a:latin typeface="+mn-lt"/>
                <a:ea typeface="+mn-ea"/>
                <a:cs typeface="+mn-cs"/>
              </a:rPr>
              <a:t>(of a person or area) made poor</a:t>
            </a:r>
          </a:p>
          <a:p>
            <a:r>
              <a:rPr lang="en-US" sz="1200" dirty="0">
                <a:latin typeface="Times New Roman" panose="02020603050405020304" pitchFamily="18" charset="0"/>
                <a:cs typeface="Times New Roman" panose="02020603050405020304" pitchFamily="18" charset="0"/>
              </a:rPr>
              <a:t>Ostentatious - </a:t>
            </a:r>
            <a:r>
              <a:rPr lang="en-US" sz="1200" b="0" i="0" kern="1200" dirty="0">
                <a:solidFill>
                  <a:schemeClr val="tx1"/>
                </a:solidFill>
                <a:effectLst/>
                <a:latin typeface="+mn-lt"/>
                <a:ea typeface="+mn-ea"/>
                <a:cs typeface="+mn-cs"/>
              </a:rPr>
              <a:t>characterized by pretentious or showy display; designed to </a:t>
            </a:r>
            <a:r>
              <a:rPr lang="en-US" sz="1200" b="0" i="0" u="none" strike="noStrike" kern="1200" dirty="0">
                <a:solidFill>
                  <a:schemeClr val="tx1"/>
                </a:solidFill>
                <a:effectLst/>
                <a:latin typeface="+mn-lt"/>
                <a:ea typeface="+mn-ea"/>
                <a:cs typeface="+mn-cs"/>
              </a:rPr>
              <a:t>impress</a:t>
            </a:r>
          </a:p>
          <a:p>
            <a:r>
              <a:rPr lang="en-US" b="0" baseline="0" dirty="0"/>
              <a:t>Lucrative - </a:t>
            </a:r>
            <a:r>
              <a:rPr lang="en-US" sz="1200" b="0" i="0" kern="1200" dirty="0">
                <a:solidFill>
                  <a:schemeClr val="tx1"/>
                </a:solidFill>
                <a:effectLst/>
                <a:latin typeface="+mn-lt"/>
                <a:ea typeface="+mn-ea"/>
                <a:cs typeface="+mn-cs"/>
              </a:rPr>
              <a:t>producing a great deal of profit</a:t>
            </a:r>
          </a:p>
          <a:p>
            <a:r>
              <a:rPr lang="en-US" b="0" baseline="0" dirty="0"/>
              <a:t>Decrepit - </a:t>
            </a:r>
            <a:r>
              <a:rPr lang="en-US" sz="1200" b="0" i="0" kern="1200" dirty="0">
                <a:solidFill>
                  <a:schemeClr val="tx1"/>
                </a:solidFill>
                <a:effectLst/>
                <a:latin typeface="+mn-lt"/>
                <a:ea typeface="+mn-ea"/>
                <a:cs typeface="+mn-cs"/>
              </a:rPr>
              <a:t>worn out or ruined because of age or neglect</a:t>
            </a:r>
          </a:p>
          <a:p>
            <a:r>
              <a:rPr lang="en-US" sz="1200" b="0" i="0" kern="1200" baseline="0" dirty="0">
                <a:solidFill>
                  <a:schemeClr val="tx1"/>
                </a:solidFill>
                <a:effectLst/>
                <a:latin typeface="+mn-lt"/>
                <a:ea typeface="+mn-ea"/>
                <a:cs typeface="+mn-cs"/>
              </a:rPr>
              <a:t>Tenement - </a:t>
            </a:r>
            <a:r>
              <a:rPr lang="en-US" sz="1200" b="0" i="0" kern="1200" dirty="0">
                <a:solidFill>
                  <a:schemeClr val="tx1"/>
                </a:solidFill>
                <a:effectLst/>
                <a:latin typeface="+mn-lt"/>
                <a:ea typeface="+mn-ea"/>
                <a:cs typeface="+mn-cs"/>
              </a:rPr>
              <a:t>a room or a set of rooms forming a separate residence within a house or block of flats</a:t>
            </a:r>
            <a:endParaRPr lang="en-US" b="0" baseline="0"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6</a:t>
            </a:fld>
            <a:endParaRPr lang="en-US"/>
          </a:p>
        </p:txBody>
      </p:sp>
    </p:spTree>
    <p:extLst>
      <p:ext uri="{BB962C8B-B14F-4D97-AF65-F5344CB8AC3E}">
        <p14:creationId xmlns:p14="http://schemas.microsoft.com/office/powerpoint/2010/main" val="3744374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ED6E0-E04B-73E3-8F77-ACB9D2A9F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4D79C0-0AAA-E9EC-A45B-1BB286AF9E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7879F-5C44-7EE0-DE5F-35BDA18769AE}"/>
              </a:ext>
            </a:extLst>
          </p:cNvPr>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Mumbled - say something </a:t>
            </a:r>
            <a:r>
              <a:rPr lang="en-US" sz="1200" b="0" i="0" u="none" strike="noStrike" kern="1200" dirty="0">
                <a:solidFill>
                  <a:schemeClr val="tx1"/>
                </a:solidFill>
                <a:effectLst/>
                <a:latin typeface="+mn-lt"/>
                <a:ea typeface="+mn-ea"/>
                <a:cs typeface="+mn-cs"/>
              </a:rPr>
              <a:t>indistinctly</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rPr>
              <a:t>quietly</a:t>
            </a:r>
            <a:r>
              <a:rPr lang="en-US" sz="1200" b="0" i="0" kern="1200" dirty="0">
                <a:solidFill>
                  <a:schemeClr val="tx1"/>
                </a:solidFill>
                <a:effectLst/>
                <a:latin typeface="+mn-lt"/>
                <a:ea typeface="+mn-ea"/>
                <a:cs typeface="+mn-cs"/>
              </a:rPr>
              <a:t>, making it difficult for others to hear</a:t>
            </a:r>
          </a:p>
          <a:p>
            <a:r>
              <a:rPr lang="en-US" sz="1200" b="0" i="0" kern="1200" dirty="0">
                <a:solidFill>
                  <a:schemeClr val="tx1"/>
                </a:solidFill>
                <a:effectLst/>
                <a:latin typeface="+mn-lt"/>
                <a:ea typeface="+mn-ea"/>
                <a:cs typeface="+mn-cs"/>
              </a:rPr>
              <a:t>Brow - eyebrows</a:t>
            </a:r>
            <a:endParaRPr lang="en-US" dirty="0"/>
          </a:p>
        </p:txBody>
      </p:sp>
      <p:sp>
        <p:nvSpPr>
          <p:cNvPr id="4" name="Slide Number Placeholder 3">
            <a:extLst>
              <a:ext uri="{FF2B5EF4-FFF2-40B4-BE49-F238E27FC236}">
                <a16:creationId xmlns:a16="http://schemas.microsoft.com/office/drawing/2014/main" id="{21BC635B-5A23-4631-6ACF-4DDF26F53FBF}"/>
              </a:ext>
            </a:extLst>
          </p:cNvPr>
          <p:cNvSpPr>
            <a:spLocks noGrp="1"/>
          </p:cNvSpPr>
          <p:nvPr>
            <p:ph type="sldNum" sz="quarter" idx="10"/>
          </p:nvPr>
        </p:nvSpPr>
        <p:spPr/>
        <p:txBody>
          <a:bodyPr/>
          <a:lstStyle/>
          <a:p>
            <a:fld id="{4B1F3690-CC04-4912-8425-CC51B02F4DCF}" type="slidenum">
              <a:rPr lang="en-US" smtClean="0"/>
              <a:pPr/>
              <a:t>7</a:t>
            </a:fld>
            <a:endParaRPr lang="en-US"/>
          </a:p>
        </p:txBody>
      </p:sp>
    </p:spTree>
    <p:extLst>
      <p:ext uri="{BB962C8B-B14F-4D97-AF65-F5344CB8AC3E}">
        <p14:creationId xmlns:p14="http://schemas.microsoft.com/office/powerpoint/2010/main" val="3637193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6690E-AA24-FF82-BD34-A461F84B2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F765D-5A38-3405-40CA-349C5B6C97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DDDD4-E694-884F-A236-48DF1040C5A9}"/>
              </a:ext>
            </a:extLst>
          </p:cNvPr>
          <p:cNvSpPr>
            <a:spLocks noGrp="1"/>
          </p:cNvSpPr>
          <p:nvPr>
            <p:ph type="body" idx="1"/>
          </p:nvPr>
        </p:nvSpPr>
        <p:spPr/>
        <p:txBody>
          <a:bodyPr>
            <a:normAutofit/>
          </a:bodyPr>
          <a:lstStyle/>
          <a:p>
            <a:r>
              <a:rPr lang="en-US" sz="1200" dirty="0">
                <a:latin typeface="Times New Roman" panose="02020603050405020304" pitchFamily="18" charset="0"/>
                <a:cs typeface="Times New Roman" panose="02020603050405020304" pitchFamily="18" charset="0"/>
              </a:rPr>
              <a:t>self-contemplation - </a:t>
            </a:r>
            <a:r>
              <a:rPr lang="en-US" sz="1200" b="0" i="0" kern="1200" dirty="0">
                <a:solidFill>
                  <a:schemeClr val="tx1"/>
                </a:solidFill>
                <a:effectLst/>
                <a:latin typeface="+mn-lt"/>
                <a:ea typeface="+mn-ea"/>
                <a:cs typeface="+mn-cs"/>
              </a:rPr>
              <a:t>deep, intentional examination of one's own thoughts, emotions, motives, and actions.</a:t>
            </a:r>
          </a:p>
          <a:p>
            <a:r>
              <a:rPr lang="en-US" sz="1200" dirty="0">
                <a:latin typeface="Times New Roman" panose="02020603050405020304" pitchFamily="18" charset="0"/>
                <a:cs typeface="Times New Roman" panose="02020603050405020304" pitchFamily="18" charset="0"/>
              </a:rPr>
              <a:t>marvel - </a:t>
            </a:r>
            <a:r>
              <a:rPr lang="en-US" sz="1200" b="0" i="0" kern="1200" dirty="0">
                <a:solidFill>
                  <a:schemeClr val="tx1"/>
                </a:solidFill>
                <a:effectLst/>
                <a:latin typeface="+mn-lt"/>
                <a:ea typeface="+mn-ea"/>
                <a:cs typeface="+mn-cs"/>
              </a:rPr>
              <a:t>A marvel is </a:t>
            </a:r>
            <a:r>
              <a:rPr lang="en-US" dirty="0"/>
              <a:t>a wonderful, astonishing person or thing, or a feeling of great surprise and admiration</a:t>
            </a:r>
            <a:endParaRPr lang="en-US" baseline="0" dirty="0"/>
          </a:p>
        </p:txBody>
      </p:sp>
      <p:sp>
        <p:nvSpPr>
          <p:cNvPr id="4" name="Slide Number Placeholder 3">
            <a:extLst>
              <a:ext uri="{FF2B5EF4-FFF2-40B4-BE49-F238E27FC236}">
                <a16:creationId xmlns:a16="http://schemas.microsoft.com/office/drawing/2014/main" id="{E6D46728-7141-89E4-3778-394A6BFA2E3A}"/>
              </a:ext>
            </a:extLst>
          </p:cNvPr>
          <p:cNvSpPr>
            <a:spLocks noGrp="1"/>
          </p:cNvSpPr>
          <p:nvPr>
            <p:ph type="sldNum" sz="quarter" idx="10"/>
          </p:nvPr>
        </p:nvSpPr>
        <p:spPr/>
        <p:txBody>
          <a:bodyPr/>
          <a:lstStyle/>
          <a:p>
            <a:fld id="{4B1F3690-CC04-4912-8425-CC51B02F4DCF}" type="slidenum">
              <a:rPr lang="en-US" smtClean="0"/>
              <a:pPr/>
              <a:t>8</a:t>
            </a:fld>
            <a:endParaRPr lang="en-US"/>
          </a:p>
        </p:txBody>
      </p:sp>
    </p:spTree>
    <p:extLst>
      <p:ext uri="{BB962C8B-B14F-4D97-AF65-F5344CB8AC3E}">
        <p14:creationId xmlns:p14="http://schemas.microsoft.com/office/powerpoint/2010/main" val="1326065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Anxious – Anxious means apprehensive or worried about a future matter</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Pitying - feeling or showing sorrow for someone's </a:t>
            </a:r>
            <a:r>
              <a:rPr lang="en-US" sz="1200" b="0" i="0" u="none" strike="noStrike" kern="1200" dirty="0">
                <a:solidFill>
                  <a:schemeClr val="tx1"/>
                </a:solidFill>
                <a:effectLst/>
                <a:latin typeface="+mn-lt"/>
                <a:ea typeface="+mn-ea"/>
                <a:cs typeface="+mn-cs"/>
              </a:rPr>
              <a:t>misfortunes</a:t>
            </a:r>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9</a:t>
            </a:fld>
            <a:endParaRPr lang="en-US"/>
          </a:p>
        </p:txBody>
      </p:sp>
    </p:spTree>
    <p:extLst>
      <p:ext uri="{BB962C8B-B14F-4D97-AF65-F5344CB8AC3E}">
        <p14:creationId xmlns:p14="http://schemas.microsoft.com/office/powerpoint/2010/main" val="469104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10</a:t>
            </a:fld>
            <a:endParaRPr lang="en-US"/>
          </a:p>
        </p:txBody>
      </p:sp>
    </p:spTree>
    <p:extLst>
      <p:ext uri="{BB962C8B-B14F-4D97-AF65-F5344CB8AC3E}">
        <p14:creationId xmlns:p14="http://schemas.microsoft.com/office/powerpoint/2010/main" val="1224490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11</a:t>
            </a:fld>
            <a:endParaRPr lang="en-US"/>
          </a:p>
        </p:txBody>
      </p:sp>
    </p:spTree>
    <p:extLst>
      <p:ext uri="{BB962C8B-B14F-4D97-AF65-F5344CB8AC3E}">
        <p14:creationId xmlns:p14="http://schemas.microsoft.com/office/powerpoint/2010/main" val="3013512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a:latin typeface="Times New Roman" panose="02020603050405020304" pitchFamily="18" charset="0"/>
                <a:cs typeface="Times New Roman" panose="02020603050405020304" pitchFamily="18" charset="0"/>
              </a:rPr>
              <a:t>Drizzled</a:t>
            </a:r>
            <a:r>
              <a:rPr lang="en-US" dirty="0"/>
              <a:t> – </a:t>
            </a:r>
            <a:r>
              <a:rPr lang="en-US" sz="1200" b="0" i="0" kern="1200" dirty="0">
                <a:solidFill>
                  <a:schemeClr val="tx1"/>
                </a:solidFill>
                <a:effectLst/>
                <a:latin typeface="+mn-lt"/>
                <a:ea typeface="+mn-ea"/>
                <a:cs typeface="+mn-cs"/>
              </a:rPr>
              <a:t>rain lightly</a:t>
            </a:r>
            <a:endParaRPr lang="en-US" baseline="0" dirty="0"/>
          </a:p>
          <a:p>
            <a:r>
              <a:rPr lang="en-US" sz="1200" dirty="0">
                <a:latin typeface="Times New Roman" panose="02020603050405020304" pitchFamily="18" charset="0"/>
                <a:cs typeface="Times New Roman" panose="02020603050405020304" pitchFamily="18" charset="0"/>
              </a:rPr>
              <a:t>Trampled</a:t>
            </a:r>
            <a:r>
              <a:rPr lang="en-US" baseline="0" dirty="0"/>
              <a:t> – </a:t>
            </a:r>
            <a:r>
              <a:rPr lang="en-US" sz="1200" b="0" i="0" kern="1200" dirty="0">
                <a:solidFill>
                  <a:schemeClr val="tx1"/>
                </a:solidFill>
                <a:effectLst/>
                <a:latin typeface="+mn-lt"/>
                <a:ea typeface="+mn-ea"/>
                <a:cs typeface="+mn-cs"/>
              </a:rPr>
              <a:t>tread on and crush</a:t>
            </a:r>
            <a:endParaRPr lang="en-US" baseline="0" dirty="0"/>
          </a:p>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12</a:t>
            </a:fld>
            <a:endParaRPr lang="en-US"/>
          </a:p>
        </p:txBody>
      </p:sp>
    </p:spTree>
    <p:extLst>
      <p:ext uri="{BB962C8B-B14F-4D97-AF65-F5344CB8AC3E}">
        <p14:creationId xmlns:p14="http://schemas.microsoft.com/office/powerpoint/2010/main" val="1588908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13</a:t>
            </a:fld>
            <a:endParaRPr lang="en-US"/>
          </a:p>
        </p:txBody>
      </p:sp>
    </p:spTree>
    <p:extLst>
      <p:ext uri="{BB962C8B-B14F-4D97-AF65-F5344CB8AC3E}">
        <p14:creationId xmlns:p14="http://schemas.microsoft.com/office/powerpoint/2010/main" val="1272778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14</a:t>
            </a:fld>
            <a:endParaRPr lang="en-US"/>
          </a:p>
        </p:txBody>
      </p:sp>
    </p:spTree>
    <p:extLst>
      <p:ext uri="{BB962C8B-B14F-4D97-AF65-F5344CB8AC3E}">
        <p14:creationId xmlns:p14="http://schemas.microsoft.com/office/powerpoint/2010/main" val="3253013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Ambivalence - </a:t>
            </a:r>
            <a:r>
              <a:rPr lang="en-US" sz="1200" b="0" i="0" kern="1200" dirty="0">
                <a:solidFill>
                  <a:schemeClr val="tx1"/>
                </a:solidFill>
                <a:effectLst/>
                <a:latin typeface="+mn-lt"/>
                <a:ea typeface="+mn-ea"/>
                <a:cs typeface="+mn-cs"/>
              </a:rPr>
              <a:t>the state of having mixed feelings or </a:t>
            </a:r>
            <a:r>
              <a:rPr lang="en-US" sz="1200" b="0" i="0" u="none" strike="noStrike" kern="1200" dirty="0">
                <a:solidFill>
                  <a:schemeClr val="tx1"/>
                </a:solidFill>
                <a:effectLst/>
                <a:latin typeface="+mn-lt"/>
                <a:ea typeface="+mn-ea"/>
                <a:cs typeface="+mn-cs"/>
              </a:rPr>
              <a:t>contradictory</a:t>
            </a:r>
            <a:r>
              <a:rPr lang="en-US" sz="1200" b="0" i="0" kern="1200" dirty="0">
                <a:solidFill>
                  <a:schemeClr val="tx1"/>
                </a:solidFill>
                <a:effectLst/>
                <a:latin typeface="+mn-lt"/>
                <a:ea typeface="+mn-ea"/>
                <a:cs typeface="+mn-cs"/>
              </a:rPr>
              <a:t> ideas about something or someone</a:t>
            </a:r>
          </a:p>
          <a:p>
            <a:r>
              <a:rPr lang="en-US" sz="1200" b="0" i="0" kern="1200" dirty="0">
                <a:solidFill>
                  <a:schemeClr val="tx1"/>
                </a:solidFill>
                <a:effectLst/>
                <a:latin typeface="+mn-lt"/>
                <a:ea typeface="+mn-ea"/>
                <a:cs typeface="+mn-cs"/>
              </a:rPr>
              <a:t>Admiration - something regarded as impressive or worthy of respect</a:t>
            </a:r>
          </a:p>
          <a:p>
            <a:r>
              <a:rPr lang="en-US" sz="1200" b="0" i="0" kern="1200" dirty="0">
                <a:solidFill>
                  <a:schemeClr val="tx1"/>
                </a:solidFill>
                <a:effectLst/>
                <a:latin typeface="+mn-lt"/>
                <a:ea typeface="+mn-ea"/>
                <a:cs typeface="+mn-cs"/>
              </a:rPr>
              <a:t>Infatuation - an intense but </a:t>
            </a:r>
            <a:r>
              <a:rPr lang="en-US" sz="1200" b="0" i="0" u="none" strike="noStrike" kern="1200" dirty="0">
                <a:solidFill>
                  <a:schemeClr val="tx1"/>
                </a:solidFill>
                <a:effectLst/>
                <a:latin typeface="+mn-lt"/>
                <a:ea typeface="+mn-ea"/>
                <a:cs typeface="+mn-cs"/>
              </a:rPr>
              <a:t>short-lived</a:t>
            </a:r>
            <a:r>
              <a:rPr lang="en-US" sz="1200" b="0" i="0" kern="1200" dirty="0">
                <a:solidFill>
                  <a:schemeClr val="tx1"/>
                </a:solidFill>
                <a:effectLst/>
                <a:latin typeface="+mn-lt"/>
                <a:ea typeface="+mn-ea"/>
                <a:cs typeface="+mn-cs"/>
              </a:rPr>
              <a:t> passion or </a:t>
            </a:r>
            <a:r>
              <a:rPr lang="en-US" sz="1200" b="0" i="0" u="none" strike="noStrike" kern="1200" dirty="0">
                <a:solidFill>
                  <a:schemeClr val="tx1"/>
                </a:solidFill>
                <a:effectLst/>
                <a:latin typeface="+mn-lt"/>
                <a:ea typeface="+mn-ea"/>
                <a:cs typeface="+mn-cs"/>
              </a:rPr>
              <a:t>admiration</a:t>
            </a:r>
            <a:r>
              <a:rPr lang="en-US" sz="1200" b="0" i="0" kern="1200" dirty="0">
                <a:solidFill>
                  <a:schemeClr val="tx1"/>
                </a:solidFill>
                <a:effectLst/>
                <a:latin typeface="+mn-lt"/>
                <a:ea typeface="+mn-ea"/>
                <a:cs typeface="+mn-cs"/>
              </a:rPr>
              <a:t> for someone or something</a:t>
            </a:r>
            <a:endParaRPr lang="en-US" dirty="0"/>
          </a:p>
        </p:txBody>
      </p:sp>
      <p:sp>
        <p:nvSpPr>
          <p:cNvPr id="4" name="Slide Number Placeholder 3"/>
          <p:cNvSpPr>
            <a:spLocks noGrp="1"/>
          </p:cNvSpPr>
          <p:nvPr>
            <p:ph type="sldNum" sz="quarter" idx="5"/>
          </p:nvPr>
        </p:nvSpPr>
        <p:spPr/>
        <p:txBody>
          <a:bodyPr/>
          <a:lstStyle/>
          <a:p>
            <a:fld id="{4B1F3690-CC04-4912-8425-CC51B02F4DCF}" type="slidenum">
              <a:rPr lang="en-US" smtClean="0"/>
              <a:pPr/>
              <a:t>15</a:t>
            </a:fld>
            <a:endParaRPr lang="en-US"/>
          </a:p>
        </p:txBody>
      </p:sp>
    </p:spTree>
    <p:extLst>
      <p:ext uri="{BB962C8B-B14F-4D97-AF65-F5344CB8AC3E}">
        <p14:creationId xmlns:p14="http://schemas.microsoft.com/office/powerpoint/2010/main" val="1627677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16</a:t>
            </a:fld>
            <a:endParaRPr lang="en-US"/>
          </a:p>
        </p:txBody>
      </p:sp>
    </p:spTree>
    <p:extLst>
      <p:ext uri="{BB962C8B-B14F-4D97-AF65-F5344CB8AC3E}">
        <p14:creationId xmlns:p14="http://schemas.microsoft.com/office/powerpoint/2010/main" val="19356831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a:latin typeface="Times New Roman" panose="02020603050405020304" pitchFamily="18" charset="0"/>
                <a:cs typeface="Times New Roman" panose="02020603050405020304" pitchFamily="18" charset="0"/>
              </a:rPr>
              <a:t>Cessation - t</a:t>
            </a:r>
            <a:r>
              <a:rPr lang="en-US" sz="1200" b="0" i="0" kern="1200" dirty="0">
                <a:solidFill>
                  <a:schemeClr val="tx1"/>
                </a:solidFill>
                <a:effectLst/>
                <a:latin typeface="+mn-lt"/>
                <a:ea typeface="+mn-ea"/>
                <a:cs typeface="+mn-cs"/>
              </a:rPr>
              <a:t>he fact or process of ending or being brought to an end.</a:t>
            </a:r>
          </a:p>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17</a:t>
            </a:fld>
            <a:endParaRPr lang="en-US"/>
          </a:p>
        </p:txBody>
      </p:sp>
    </p:spTree>
    <p:extLst>
      <p:ext uri="{BB962C8B-B14F-4D97-AF65-F5344CB8AC3E}">
        <p14:creationId xmlns:p14="http://schemas.microsoft.com/office/powerpoint/2010/main" val="24651795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BD0F5-787E-9143-E756-65CBA5B1D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AB1A6-3DFF-F6A8-F2B0-E00CF45D0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C618C3-70A1-8F2C-F720-EF58255CE3CA}"/>
              </a:ext>
            </a:extLst>
          </p:cNvPr>
          <p:cNvSpPr>
            <a:spLocks noGrp="1"/>
          </p:cNvSpPr>
          <p:nvPr>
            <p:ph type="body" idx="1"/>
          </p:nvPr>
        </p:nvSpPr>
        <p:spPr/>
        <p:txBody>
          <a:bodyPr>
            <a:normAutofit/>
          </a:bodyPr>
          <a:lstStyle/>
          <a:p>
            <a:r>
              <a:rPr lang="en-US" sz="1200" dirty="0">
                <a:latin typeface="Times New Roman" panose="02020603050405020304" pitchFamily="18" charset="0"/>
                <a:cs typeface="Times New Roman" panose="02020603050405020304" pitchFamily="18" charset="0"/>
              </a:rPr>
              <a:t>Cessation - t</a:t>
            </a:r>
            <a:r>
              <a:rPr lang="en-US" sz="1200" b="0" i="0" kern="1200" dirty="0">
                <a:solidFill>
                  <a:schemeClr val="tx1"/>
                </a:solidFill>
                <a:effectLst/>
                <a:latin typeface="+mn-lt"/>
                <a:ea typeface="+mn-ea"/>
                <a:cs typeface="+mn-cs"/>
              </a:rPr>
              <a:t>he fact or process of ending or being brought to an end.</a:t>
            </a:r>
          </a:p>
          <a:p>
            <a:endParaRPr lang="en-US" dirty="0"/>
          </a:p>
        </p:txBody>
      </p:sp>
      <p:sp>
        <p:nvSpPr>
          <p:cNvPr id="4" name="Slide Number Placeholder 3">
            <a:extLst>
              <a:ext uri="{FF2B5EF4-FFF2-40B4-BE49-F238E27FC236}">
                <a16:creationId xmlns:a16="http://schemas.microsoft.com/office/drawing/2014/main" id="{5467F942-7DBA-CEDA-BA8C-0F8B3F1EF638}"/>
              </a:ext>
            </a:extLst>
          </p:cNvPr>
          <p:cNvSpPr>
            <a:spLocks noGrp="1"/>
          </p:cNvSpPr>
          <p:nvPr>
            <p:ph type="sldNum" sz="quarter" idx="10"/>
          </p:nvPr>
        </p:nvSpPr>
        <p:spPr/>
        <p:txBody>
          <a:bodyPr/>
          <a:lstStyle/>
          <a:p>
            <a:fld id="{4B1F3690-CC04-4912-8425-CC51B02F4DCF}" type="slidenum">
              <a:rPr lang="en-US" smtClean="0"/>
              <a:pPr/>
              <a:t>18</a:t>
            </a:fld>
            <a:endParaRPr lang="en-US"/>
          </a:p>
        </p:txBody>
      </p:sp>
    </p:spTree>
    <p:extLst>
      <p:ext uri="{BB962C8B-B14F-4D97-AF65-F5344CB8AC3E}">
        <p14:creationId xmlns:p14="http://schemas.microsoft.com/office/powerpoint/2010/main" val="21796044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B1F3690-CC04-4912-8425-CC51B02F4DCF}" type="slidenum">
              <a:rPr lang="en-US" smtClean="0"/>
              <a:pPr/>
              <a:t>19</a:t>
            </a:fld>
            <a:endParaRPr lang="en-US"/>
          </a:p>
        </p:txBody>
      </p:sp>
    </p:spTree>
    <p:extLst>
      <p:ext uri="{BB962C8B-B14F-4D97-AF65-F5344CB8AC3E}">
        <p14:creationId xmlns:p14="http://schemas.microsoft.com/office/powerpoint/2010/main" val="7711636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20</a:t>
            </a:fld>
            <a:endParaRPr lang="en-US"/>
          </a:p>
        </p:txBody>
      </p:sp>
    </p:spTree>
    <p:extLst>
      <p:ext uri="{BB962C8B-B14F-4D97-AF65-F5344CB8AC3E}">
        <p14:creationId xmlns:p14="http://schemas.microsoft.com/office/powerpoint/2010/main" val="38541241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21</a:t>
            </a:fld>
            <a:endParaRPr lang="en-US"/>
          </a:p>
        </p:txBody>
      </p:sp>
    </p:spTree>
    <p:extLst>
      <p:ext uri="{BB962C8B-B14F-4D97-AF65-F5344CB8AC3E}">
        <p14:creationId xmlns:p14="http://schemas.microsoft.com/office/powerpoint/2010/main" val="8441119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0117A-5795-A51D-2EF6-A3FE0B9BD8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D10E0-32A2-3B8D-7BC5-81D5E6177C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73F42-671C-273A-9CAF-828F5009C361}"/>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6208972-159F-8B04-4A32-836C3718ED82}"/>
              </a:ext>
            </a:extLst>
          </p:cNvPr>
          <p:cNvSpPr>
            <a:spLocks noGrp="1"/>
          </p:cNvSpPr>
          <p:nvPr>
            <p:ph type="sldNum" sz="quarter" idx="10"/>
          </p:nvPr>
        </p:nvSpPr>
        <p:spPr/>
        <p:txBody>
          <a:bodyPr/>
          <a:lstStyle/>
          <a:p>
            <a:fld id="{4B1F3690-CC04-4912-8425-CC51B02F4DCF}" type="slidenum">
              <a:rPr lang="en-US" smtClean="0"/>
              <a:pPr/>
              <a:t>22</a:t>
            </a:fld>
            <a:endParaRPr lang="en-US"/>
          </a:p>
        </p:txBody>
      </p:sp>
    </p:spTree>
    <p:extLst>
      <p:ext uri="{BB962C8B-B14F-4D97-AF65-F5344CB8AC3E}">
        <p14:creationId xmlns:p14="http://schemas.microsoft.com/office/powerpoint/2010/main" val="20685089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4B1F3690-CC04-4912-8425-CC51B02F4DCF}" type="slidenum">
              <a:rPr lang="en-US" smtClean="0"/>
              <a:pPr/>
              <a:t>23</a:t>
            </a:fld>
            <a:endParaRPr lang="en-US"/>
          </a:p>
        </p:txBody>
      </p:sp>
    </p:spTree>
    <p:extLst>
      <p:ext uri="{BB962C8B-B14F-4D97-AF65-F5344CB8AC3E}">
        <p14:creationId xmlns:p14="http://schemas.microsoft.com/office/powerpoint/2010/main" val="1973512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7F7C3-F9FE-9F48-F219-69BCD3884B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14CFE9-8C2E-EF3A-D1CE-E9885DD2E9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B190E1-6569-7E18-9DAC-F5A591A5F914}"/>
              </a:ext>
            </a:extLst>
          </p:cNvPr>
          <p:cNvSpPr>
            <a:spLocks noGrp="1"/>
          </p:cNvSpPr>
          <p:nvPr>
            <p:ph type="body" idx="1"/>
          </p:nvPr>
        </p:nvSpPr>
        <p:spPr/>
        <p:txBody>
          <a:bodyPr/>
          <a:lstStyle/>
          <a:p>
            <a:r>
              <a:rPr lang="en-US" sz="1200" b="0" i="0" kern="1200">
                <a:solidFill>
                  <a:schemeClr val="tx1"/>
                </a:solidFill>
                <a:effectLst/>
                <a:latin typeface="+mn-lt"/>
                <a:ea typeface="+mn-ea"/>
                <a:cs typeface="+mn-cs"/>
              </a:rPr>
              <a:t>Incongruity - the </a:t>
            </a:r>
            <a:r>
              <a:rPr lang="en-US" sz="1200" b="0" i="0" kern="1200" dirty="0">
                <a:solidFill>
                  <a:schemeClr val="tx1"/>
                </a:solidFill>
                <a:effectLst/>
                <a:latin typeface="+mn-lt"/>
                <a:ea typeface="+mn-ea"/>
                <a:cs typeface="+mn-cs"/>
              </a:rPr>
              <a:t>state of being unsuitable, inconsistent, or out of place, often creating a jarring or humorous effect</a:t>
            </a:r>
          </a:p>
        </p:txBody>
      </p:sp>
      <p:sp>
        <p:nvSpPr>
          <p:cNvPr id="4" name="Slide Number Placeholder 3">
            <a:extLst>
              <a:ext uri="{FF2B5EF4-FFF2-40B4-BE49-F238E27FC236}">
                <a16:creationId xmlns:a16="http://schemas.microsoft.com/office/drawing/2014/main" id="{5FF29867-734B-D215-CB58-65CF85B23BE3}"/>
              </a:ext>
            </a:extLst>
          </p:cNvPr>
          <p:cNvSpPr>
            <a:spLocks noGrp="1"/>
          </p:cNvSpPr>
          <p:nvPr>
            <p:ph type="sldNum" sz="quarter" idx="5"/>
          </p:nvPr>
        </p:nvSpPr>
        <p:spPr/>
        <p:txBody>
          <a:bodyPr/>
          <a:lstStyle/>
          <a:p>
            <a:fld id="{4B1F3690-CC04-4912-8425-CC51B02F4DCF}" type="slidenum">
              <a:rPr lang="en-US" smtClean="0"/>
              <a:pPr/>
              <a:t>24</a:t>
            </a:fld>
            <a:endParaRPr lang="en-US"/>
          </a:p>
        </p:txBody>
      </p:sp>
    </p:spTree>
    <p:extLst>
      <p:ext uri="{BB962C8B-B14F-4D97-AF65-F5344CB8AC3E}">
        <p14:creationId xmlns:p14="http://schemas.microsoft.com/office/powerpoint/2010/main" val="31797449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25</a:t>
            </a:fld>
            <a:endParaRPr lang="en-US"/>
          </a:p>
        </p:txBody>
      </p:sp>
    </p:spTree>
    <p:extLst>
      <p:ext uri="{BB962C8B-B14F-4D97-AF65-F5344CB8AC3E}">
        <p14:creationId xmlns:p14="http://schemas.microsoft.com/office/powerpoint/2010/main" val="17040628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59FF3-61F2-8173-F225-73B5EA5EB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29FD7-5BA8-FB58-2AB3-DD9D426AA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B8EDA2-36D8-4733-0F97-E0AF0FE73EE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833AAB5-4046-9EE5-C835-6EE8924B23F1}"/>
              </a:ext>
            </a:extLst>
          </p:cNvPr>
          <p:cNvSpPr>
            <a:spLocks noGrp="1"/>
          </p:cNvSpPr>
          <p:nvPr>
            <p:ph type="sldNum" sz="quarter" idx="10"/>
          </p:nvPr>
        </p:nvSpPr>
        <p:spPr/>
        <p:txBody>
          <a:bodyPr/>
          <a:lstStyle/>
          <a:p>
            <a:fld id="{4B1F3690-CC04-4912-8425-CC51B02F4DCF}" type="slidenum">
              <a:rPr lang="en-US" smtClean="0"/>
              <a:pPr/>
              <a:t>26</a:t>
            </a:fld>
            <a:endParaRPr lang="en-US"/>
          </a:p>
        </p:txBody>
      </p:sp>
    </p:spTree>
    <p:extLst>
      <p:ext uri="{BB962C8B-B14F-4D97-AF65-F5344CB8AC3E}">
        <p14:creationId xmlns:p14="http://schemas.microsoft.com/office/powerpoint/2010/main" val="3936195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Conflict – </a:t>
            </a:r>
            <a:r>
              <a:rPr lang="en-US" sz="1200" b="0" i="0" kern="1200" dirty="0">
                <a:solidFill>
                  <a:schemeClr val="tx1"/>
                </a:solidFill>
                <a:effectLst/>
                <a:latin typeface="+mn-lt"/>
                <a:ea typeface="+mn-ea"/>
                <a:cs typeface="+mn-cs"/>
              </a:rPr>
              <a:t>a sharp disagreement, clash, or battle between opposing ideas, interests, or forces</a:t>
            </a:r>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27</a:t>
            </a:fld>
            <a:endParaRPr lang="en-US"/>
          </a:p>
        </p:txBody>
      </p:sp>
    </p:spTree>
    <p:extLst>
      <p:ext uri="{BB962C8B-B14F-4D97-AF65-F5344CB8AC3E}">
        <p14:creationId xmlns:p14="http://schemas.microsoft.com/office/powerpoint/2010/main" val="11833137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28</a:t>
            </a:fld>
            <a:endParaRPr lang="en-US"/>
          </a:p>
        </p:txBody>
      </p:sp>
    </p:spTree>
    <p:extLst>
      <p:ext uri="{BB962C8B-B14F-4D97-AF65-F5344CB8AC3E}">
        <p14:creationId xmlns:p14="http://schemas.microsoft.com/office/powerpoint/2010/main" val="3630242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29</a:t>
            </a:fld>
            <a:endParaRPr lang="en-US"/>
          </a:p>
        </p:txBody>
      </p:sp>
    </p:spTree>
    <p:extLst>
      <p:ext uri="{BB962C8B-B14F-4D97-AF65-F5344CB8AC3E}">
        <p14:creationId xmlns:p14="http://schemas.microsoft.com/office/powerpoint/2010/main" val="17760131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Entice – attract</a:t>
            </a:r>
            <a:r>
              <a:rPr lang="en-US" baseline="0" dirty="0"/>
              <a:t> or tempt. To persuade someone to do something by offering them something pleasant.</a:t>
            </a:r>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30</a:t>
            </a:fld>
            <a:endParaRPr lang="en-US"/>
          </a:p>
        </p:txBody>
      </p:sp>
    </p:spTree>
    <p:extLst>
      <p:ext uri="{BB962C8B-B14F-4D97-AF65-F5344CB8AC3E}">
        <p14:creationId xmlns:p14="http://schemas.microsoft.com/office/powerpoint/2010/main" val="40614314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31</a:t>
            </a:fld>
            <a:endParaRPr lang="en-US"/>
          </a:p>
        </p:txBody>
      </p:sp>
    </p:spTree>
    <p:extLst>
      <p:ext uri="{BB962C8B-B14F-4D97-AF65-F5344CB8AC3E}">
        <p14:creationId xmlns:p14="http://schemas.microsoft.com/office/powerpoint/2010/main" val="10833668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32</a:t>
            </a:fld>
            <a:endParaRPr lang="en-US"/>
          </a:p>
        </p:txBody>
      </p:sp>
    </p:spTree>
    <p:extLst>
      <p:ext uri="{BB962C8B-B14F-4D97-AF65-F5344CB8AC3E}">
        <p14:creationId xmlns:p14="http://schemas.microsoft.com/office/powerpoint/2010/main" val="23876678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F8F20-954E-74E2-158E-AA3A18BFB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134AD-C704-9778-05DD-CA5CBEC42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B95564-F4A6-D6B9-D877-305616C1747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6B3FB72-2E76-E9CB-8BCA-B2C918C290E5}"/>
              </a:ext>
            </a:extLst>
          </p:cNvPr>
          <p:cNvSpPr>
            <a:spLocks noGrp="1"/>
          </p:cNvSpPr>
          <p:nvPr>
            <p:ph type="sldNum" sz="quarter" idx="10"/>
          </p:nvPr>
        </p:nvSpPr>
        <p:spPr/>
        <p:txBody>
          <a:bodyPr/>
          <a:lstStyle/>
          <a:p>
            <a:fld id="{4B1F3690-CC04-4912-8425-CC51B02F4DCF}" type="slidenum">
              <a:rPr lang="en-US" smtClean="0"/>
              <a:pPr/>
              <a:t>33</a:t>
            </a:fld>
            <a:endParaRPr lang="en-US"/>
          </a:p>
        </p:txBody>
      </p:sp>
    </p:spTree>
    <p:extLst>
      <p:ext uri="{BB962C8B-B14F-4D97-AF65-F5344CB8AC3E}">
        <p14:creationId xmlns:p14="http://schemas.microsoft.com/office/powerpoint/2010/main" val="33694281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1F3690-CC04-4912-8425-CC51B02F4DCF}" type="slidenum">
              <a:rPr lang="en-US" smtClean="0"/>
              <a:pPr/>
              <a:t>35</a:t>
            </a:fld>
            <a:endParaRPr lang="en-US"/>
          </a:p>
        </p:txBody>
      </p:sp>
    </p:spTree>
    <p:extLst>
      <p:ext uri="{BB962C8B-B14F-4D97-AF65-F5344CB8AC3E}">
        <p14:creationId xmlns:p14="http://schemas.microsoft.com/office/powerpoint/2010/main" val="40718066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ED3FE-1A08-14C6-2F8F-F4CE53E43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9EB14-99A9-19F5-BC42-65BF5DAC3A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B2FA0B-3D0D-F5B3-2DC8-5C8F2F17326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B25E6AB3-64B1-F285-35B7-9C2CCA1DDCFE}"/>
              </a:ext>
            </a:extLst>
          </p:cNvPr>
          <p:cNvSpPr>
            <a:spLocks noGrp="1"/>
          </p:cNvSpPr>
          <p:nvPr>
            <p:ph type="sldNum" sz="quarter" idx="10"/>
          </p:nvPr>
        </p:nvSpPr>
        <p:spPr/>
        <p:txBody>
          <a:bodyPr/>
          <a:lstStyle/>
          <a:p>
            <a:fld id="{4B1F3690-CC04-4912-8425-CC51B02F4DCF}" type="slidenum">
              <a:rPr lang="en-US" smtClean="0"/>
              <a:pPr/>
              <a:t>36</a:t>
            </a:fld>
            <a:endParaRPr lang="en-US"/>
          </a:p>
        </p:txBody>
      </p:sp>
    </p:spTree>
    <p:extLst>
      <p:ext uri="{BB962C8B-B14F-4D97-AF65-F5344CB8AC3E}">
        <p14:creationId xmlns:p14="http://schemas.microsoft.com/office/powerpoint/2010/main" val="30725694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8D9EE-20F9-E7E9-416C-B6845CFC1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E9411-7A52-97CE-8B10-6C8A2AD2D6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15B7CC-23D3-B4BD-F7F1-287C43825882}"/>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820566E2-C480-5F1E-6C50-10CE93AF3573}"/>
              </a:ext>
            </a:extLst>
          </p:cNvPr>
          <p:cNvSpPr>
            <a:spLocks noGrp="1"/>
          </p:cNvSpPr>
          <p:nvPr>
            <p:ph type="sldNum" sz="quarter" idx="10"/>
          </p:nvPr>
        </p:nvSpPr>
        <p:spPr/>
        <p:txBody>
          <a:bodyPr/>
          <a:lstStyle/>
          <a:p>
            <a:fld id="{4B1F3690-CC04-4912-8425-CC51B02F4DCF}" type="slidenum">
              <a:rPr lang="en-US" smtClean="0"/>
              <a:pPr/>
              <a:t>37</a:t>
            </a:fld>
            <a:endParaRPr lang="en-US"/>
          </a:p>
        </p:txBody>
      </p:sp>
    </p:spTree>
    <p:extLst>
      <p:ext uri="{BB962C8B-B14F-4D97-AF65-F5344CB8AC3E}">
        <p14:creationId xmlns:p14="http://schemas.microsoft.com/office/powerpoint/2010/main" val="1714772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3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5.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latin typeface="Times New Roman" pitchFamily="18" charset="0"/>
                <a:cs typeface="Times New Roman" pitchFamily="18" charset="0"/>
              </a:rPr>
              <a:t>English Composition &amp; Comprehension</a:t>
            </a:r>
          </a:p>
        </p:txBody>
      </p:sp>
      <p:sp>
        <p:nvSpPr>
          <p:cNvPr id="3" name="Subtitle 2"/>
          <p:cNvSpPr>
            <a:spLocks noGrp="1"/>
          </p:cNvSpPr>
          <p:nvPr>
            <p:ph type="subTitle" idx="1"/>
          </p:nvPr>
        </p:nvSpPr>
        <p:spPr>
          <a:xfrm>
            <a:off x="1295400" y="3581400"/>
            <a:ext cx="6400800" cy="1752600"/>
          </a:xfrm>
        </p:spPr>
        <p:txBody>
          <a:bodyPr/>
          <a:lstStyle/>
          <a:p>
            <a:r>
              <a:rPr lang="en-US" dirty="0"/>
              <a:t>Dr. Abu </a:t>
            </a:r>
            <a:r>
              <a:rPr lang="en-US" dirty="0" err="1"/>
              <a:t>Bakr</a:t>
            </a:r>
            <a:r>
              <a:rPr lang="en-US" dirty="0"/>
              <a:t> </a:t>
            </a:r>
            <a:r>
              <a:rPr lang="en-US" dirty="0" err="1"/>
              <a:t>Siddique</a:t>
            </a:r>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a:latin typeface="Times New Roman" pitchFamily="18" charset="0"/>
                <a:cs typeface="Times New Roman" pitchFamily="18" charset="0"/>
              </a:rPr>
              <a:t>Lecture Outline</a:t>
            </a:r>
          </a:p>
        </p:txBody>
      </p:sp>
      <p:sp>
        <p:nvSpPr>
          <p:cNvPr id="3" name="Content Placeholder 2"/>
          <p:cNvSpPr>
            <a:spLocks noGrp="1"/>
          </p:cNvSpPr>
          <p:nvPr>
            <p:ph idx="1"/>
          </p:nvPr>
        </p:nvSpPr>
        <p:spPr>
          <a:xfrm>
            <a:off x="533400" y="762000"/>
            <a:ext cx="8229600" cy="4525963"/>
          </a:xfrm>
        </p:spPr>
        <p:txBody>
          <a:bodyPr>
            <a:noAutofit/>
          </a:bodyPr>
          <a:lstStyle/>
          <a:p>
            <a:pPr algn="just">
              <a:lnSpc>
                <a:spcPct val="120000"/>
              </a:lnSpc>
            </a:pPr>
            <a:r>
              <a:rPr lang="en-US" sz="4000" dirty="0">
                <a:latin typeface="Times New Roman" pitchFamily="18" charset="0"/>
                <a:cs typeface="Times New Roman" pitchFamily="18" charset="0"/>
              </a:rPr>
              <a:t>Reading Comprehension Exercise 4</a:t>
            </a:r>
          </a:p>
          <a:p>
            <a:pPr marL="0" indent="0" algn="just">
              <a:lnSpc>
                <a:spcPct val="120000"/>
              </a:lnSpc>
              <a:buNone/>
            </a:pPr>
            <a:r>
              <a:rPr lang="en-US" sz="4000" dirty="0">
                <a:latin typeface="Times New Roman" pitchFamily="18" charset="0"/>
                <a:cs typeface="Times New Roman" pitchFamily="18" charset="0"/>
              </a:rPr>
              <a:t>	 </a:t>
            </a:r>
            <a:r>
              <a:rPr lang="en-US" sz="4000" b="1" dirty="0">
                <a:latin typeface="Times New Roman" pitchFamily="18" charset="0"/>
                <a:cs typeface="Times New Roman" pitchFamily="18" charset="0"/>
              </a:rPr>
              <a:t>Seeing Through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latin typeface="Times New Roman" pitchFamily="18" charset="0"/>
                <a:cs typeface="Times New Roman" pitchFamily="18" charset="0"/>
              </a:rPr>
              <a:t>Seeing Through</a:t>
            </a:r>
          </a:p>
        </p:txBody>
      </p:sp>
    </p:spTree>
    <p:extLst>
      <p:ext uri="{BB962C8B-B14F-4D97-AF65-F5344CB8AC3E}">
        <p14:creationId xmlns:p14="http://schemas.microsoft.com/office/powerpoint/2010/main" val="863079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228600"/>
            <a:ext cx="8839200" cy="1143000"/>
          </a:xfrm>
        </p:spPr>
        <p:txBody>
          <a:bodyPr>
            <a:normAutofit/>
          </a:bodyPr>
          <a:lstStyle/>
          <a:p>
            <a:r>
              <a:rPr lang="en-US" dirty="0">
                <a:latin typeface="Times New Roman" pitchFamily="18" charset="0"/>
                <a:cs typeface="Times New Roman" pitchFamily="18" charset="0"/>
              </a:rPr>
              <a:t>Seeing Through</a:t>
            </a:r>
            <a:endParaRPr lang="en-US" dirty="0"/>
          </a:p>
        </p:txBody>
      </p:sp>
      <p:sp>
        <p:nvSpPr>
          <p:cNvPr id="15" name="Content Placeholder 2"/>
          <p:cNvSpPr txBox="1">
            <a:spLocks/>
          </p:cNvSpPr>
          <p:nvPr/>
        </p:nvSpPr>
        <p:spPr>
          <a:xfrm>
            <a:off x="0" y="608807"/>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000" dirty="0">
                <a:latin typeface="Times New Roman" panose="02020603050405020304" pitchFamily="18" charset="0"/>
                <a:cs typeface="Times New Roman" panose="02020603050405020304" pitchFamily="18" charset="0"/>
              </a:rPr>
              <a:t>Jeffrey brushed quickly past an elderly woman waiting on the platform ahead of him to get onto the subway. He wanted to be sure to get a seat to read his New Economics Journal. As the train screeched out of the station, he lifted his head from the business news and stared at the man directly across from him. </a:t>
            </a:r>
          </a:p>
          <a:p>
            <a:pPr marL="342900" indent="-342900" algn="just">
              <a:spcBef>
                <a:spcPct val="20000"/>
              </a:spcBef>
              <a:buFont typeface="Arial" pitchFamily="34" charset="0"/>
              <a:buChar char="•"/>
              <a:defRPr/>
            </a:pPr>
            <a:endParaRPr lang="en-US" sz="30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000" dirty="0">
                <a:latin typeface="Times New Roman" panose="02020603050405020304" pitchFamily="18" charset="0"/>
                <a:cs typeface="Times New Roman" panose="02020603050405020304" pitchFamily="18" charset="0"/>
              </a:rPr>
              <a:t>A fierce wave – a tsunami – of antipathy came over him. Jeffrey knew this man, knew him all too well. They had become bitter enemies.</a:t>
            </a:r>
          </a:p>
          <a:p>
            <a:pPr marL="342900" indent="-342900" algn="just">
              <a:spcBef>
                <a:spcPct val="20000"/>
              </a:spcBef>
              <a:buFont typeface="Arial" pitchFamily="34" charset="0"/>
              <a:buChar char="•"/>
              <a:defRPr/>
            </a:pPr>
            <a:endParaRPr lang="en-US" sz="30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000" dirty="0">
                <a:latin typeface="Times New Roman" panose="02020603050405020304" pitchFamily="18" charset="0"/>
                <a:cs typeface="Times New Roman" panose="02020603050405020304" pitchFamily="18" charset="0"/>
              </a:rPr>
              <a:t>Their eyes locked.</a:t>
            </a:r>
          </a:p>
        </p:txBody>
      </p:sp>
    </p:spTree>
    <p:extLst>
      <p:ext uri="{BB962C8B-B14F-4D97-AF65-F5344CB8AC3E}">
        <p14:creationId xmlns:p14="http://schemas.microsoft.com/office/powerpoint/2010/main" val="1596664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228600"/>
            <a:ext cx="8839200" cy="1143000"/>
          </a:xfrm>
        </p:spPr>
        <p:txBody>
          <a:bodyPr>
            <a:normAutofit/>
          </a:bodyPr>
          <a:lstStyle/>
          <a:p>
            <a:r>
              <a:rPr lang="en-US" dirty="0">
                <a:latin typeface="Times New Roman" pitchFamily="18" charset="0"/>
                <a:cs typeface="Times New Roman" pitchFamily="18" charset="0"/>
              </a:rPr>
              <a:t>Seeing Through</a:t>
            </a:r>
            <a:endParaRPr lang="en-US" dirty="0"/>
          </a:p>
        </p:txBody>
      </p:sp>
      <p:sp>
        <p:nvSpPr>
          <p:cNvPr id="15" name="Content Placeholder 2"/>
          <p:cNvSpPr txBox="1">
            <a:spLocks/>
          </p:cNvSpPr>
          <p:nvPr/>
        </p:nvSpPr>
        <p:spPr>
          <a:xfrm>
            <a:off x="0" y="6858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As the train reached full speed, the cacophony of speeding wheels against the winding rails and of the wildly vibrating subway car filled Jeffrey’s ears. To this frenetic beat, Jeffrey listed in his head all the reasons that this man, whose eyes he gravely stared into, whose image seemed to appear nearly everywhere he went, had become anathema to him.</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He had climbed the upper echelons of the Wall Street firm using an imperious manner with his subordinates: issuing directives; ordaining</a:t>
            </a:r>
          </a:p>
        </p:txBody>
      </p:sp>
    </p:spTree>
    <p:extLst>
      <p:ext uri="{BB962C8B-B14F-4D97-AF65-F5344CB8AC3E}">
        <p14:creationId xmlns:p14="http://schemas.microsoft.com/office/powerpoint/2010/main" val="328952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839200" cy="1143000"/>
          </a:xfrm>
        </p:spPr>
        <p:txBody>
          <a:bodyPr>
            <a:normAutofit/>
          </a:bodyPr>
          <a:lstStyle/>
          <a:p>
            <a:r>
              <a:rPr lang="en-US" dirty="0">
                <a:latin typeface="Times New Roman" pitchFamily="18" charset="0"/>
                <a:cs typeface="Times New Roman" pitchFamily="18" charset="0"/>
              </a:rPr>
              <a:t>Seeing Through</a:t>
            </a:r>
            <a:endParaRPr lang="en-US" dirty="0"/>
          </a:p>
        </p:txBody>
      </p:sp>
      <p:sp>
        <p:nvSpPr>
          <p:cNvPr id="15" name="Content Placeholder 2"/>
          <p:cNvSpPr txBox="1">
            <a:spLocks/>
          </p:cNvSpPr>
          <p:nvPr/>
        </p:nvSpPr>
        <p:spPr>
          <a:xfrm>
            <a:off x="0" y="6858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idiosyncratic decrees; generally making certain everyone knew he was the boss.</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Despite his impoverished upbringing, he had become ostentatious. Flush with cash from the lucrative deals he made on Wall Street, he had purchased a yacht and a home in Versailles. He used neither. But, oh, how he liked to say he had them. Meanwhile—Jeffrey knew—this man’s father was on the verge of being evicted from his decrepit tenement apartment in the South Bronx. </a:t>
            </a:r>
          </a:p>
        </p:txBody>
      </p:sp>
    </p:spTree>
    <p:extLst>
      <p:ext uri="{BB962C8B-B14F-4D97-AF65-F5344CB8AC3E}">
        <p14:creationId xmlns:p14="http://schemas.microsoft.com/office/powerpoint/2010/main" val="1815876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F75AD-5D2F-37ED-A5C2-07D308738F5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64FBC7-58CC-11B4-F145-B2CCE04E3CAB}"/>
              </a:ext>
            </a:extLst>
          </p:cNvPr>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a:extLst>
              <a:ext uri="{FF2B5EF4-FFF2-40B4-BE49-F238E27FC236}">
                <a16:creationId xmlns:a16="http://schemas.microsoft.com/office/drawing/2014/main" id="{15E7C87F-C786-959B-EBBC-D7E76AB8EDB3}"/>
              </a:ext>
            </a:extLst>
          </p:cNvPr>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a:extLst>
              <a:ext uri="{FF2B5EF4-FFF2-40B4-BE49-F238E27FC236}">
                <a16:creationId xmlns:a16="http://schemas.microsoft.com/office/drawing/2014/main" id="{333732A8-2AA3-99FA-6248-9ABF5464883A}"/>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a:extLst>
              <a:ext uri="{FF2B5EF4-FFF2-40B4-BE49-F238E27FC236}">
                <a16:creationId xmlns:a16="http://schemas.microsoft.com/office/drawing/2014/main" id="{69854A55-1B18-4307-7282-78BB73D7487C}"/>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a:extLst>
              <a:ext uri="{FF2B5EF4-FFF2-40B4-BE49-F238E27FC236}">
                <a16:creationId xmlns:a16="http://schemas.microsoft.com/office/drawing/2014/main" id="{A4ADD893-ABD4-974C-CE4A-467024E0BED3}"/>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a:extLst>
              <a:ext uri="{FF2B5EF4-FFF2-40B4-BE49-F238E27FC236}">
                <a16:creationId xmlns:a16="http://schemas.microsoft.com/office/drawing/2014/main" id="{E531D933-04DB-92AF-414B-D9CEC152492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a:extLst>
              <a:ext uri="{FF2B5EF4-FFF2-40B4-BE49-F238E27FC236}">
                <a16:creationId xmlns:a16="http://schemas.microsoft.com/office/drawing/2014/main" id="{7F0D5A1D-8125-EDD3-0FD8-94ABA899BCF1}"/>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a:extLst>
              <a:ext uri="{FF2B5EF4-FFF2-40B4-BE49-F238E27FC236}">
                <a16:creationId xmlns:a16="http://schemas.microsoft.com/office/drawing/2014/main" id="{1E49FCB4-3C18-A476-87C4-02DC0FC7F101}"/>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a:extLst>
              <a:ext uri="{FF2B5EF4-FFF2-40B4-BE49-F238E27FC236}">
                <a16:creationId xmlns:a16="http://schemas.microsoft.com/office/drawing/2014/main" id="{5C16DCC6-5769-1641-FA51-FF11ED18F251}"/>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A9F7E9B1-84DD-B7A1-5645-FB03B0137D8B}"/>
              </a:ext>
            </a:extLst>
          </p:cNvPr>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a:extLst>
              <a:ext uri="{FF2B5EF4-FFF2-40B4-BE49-F238E27FC236}">
                <a16:creationId xmlns:a16="http://schemas.microsoft.com/office/drawing/2014/main" id="{9E735B45-8BAD-57A5-F12F-7CB0DA6FF354}"/>
              </a:ext>
            </a:extLst>
          </p:cNvPr>
          <p:cNvSpPr>
            <a:spLocks noGrp="1"/>
          </p:cNvSpPr>
          <p:nvPr>
            <p:ph type="title"/>
          </p:nvPr>
        </p:nvSpPr>
        <p:spPr>
          <a:xfrm>
            <a:off x="304800" y="-228600"/>
            <a:ext cx="8839200" cy="1143000"/>
          </a:xfrm>
        </p:spPr>
        <p:txBody>
          <a:bodyPr>
            <a:normAutofit/>
          </a:bodyPr>
          <a:lstStyle/>
          <a:p>
            <a:r>
              <a:rPr lang="en-US" dirty="0">
                <a:latin typeface="Times New Roman" pitchFamily="18" charset="0"/>
                <a:cs typeface="Times New Roman" pitchFamily="18" charset="0"/>
              </a:rPr>
              <a:t>Seeing Through</a:t>
            </a:r>
            <a:endParaRPr lang="en-US" dirty="0"/>
          </a:p>
        </p:txBody>
      </p:sp>
      <p:sp>
        <p:nvSpPr>
          <p:cNvPr id="15" name="Content Placeholder 2">
            <a:extLst>
              <a:ext uri="{FF2B5EF4-FFF2-40B4-BE49-F238E27FC236}">
                <a16:creationId xmlns:a16="http://schemas.microsoft.com/office/drawing/2014/main" id="{63020C31-167D-DC30-0184-F5F275EF7FC4}"/>
              </a:ext>
            </a:extLst>
          </p:cNvPr>
          <p:cNvSpPr txBox="1">
            <a:spLocks/>
          </p:cNvSpPr>
          <p:nvPr/>
        </p:nvSpPr>
        <p:spPr>
          <a:xfrm>
            <a:off x="0" y="6858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What bothered Jeffrey most about this man was that he never even attempted to make amends for his evil ways.</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Could this man change? Jeffrey did not know. But maybe, just maybe, he could try.</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The train screeched to Jeffrey’s stop at Battery Park. He gave the man one last hard look. “See you around,” he mumbled to himself. And he knew he would— the wrinkled brow, that part of graying</a:t>
            </a:r>
            <a:endParaRPr lang="en-US" sz="30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3751743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071A7-E64B-2452-1B30-6F6C116BD9C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2743AB-CB10-67E6-9EA9-41D24B37E777}"/>
              </a:ext>
            </a:extLst>
          </p:cNvPr>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a:extLst>
              <a:ext uri="{FF2B5EF4-FFF2-40B4-BE49-F238E27FC236}">
                <a16:creationId xmlns:a16="http://schemas.microsoft.com/office/drawing/2014/main" id="{5ACA2555-B171-A398-3145-150747774A45}"/>
              </a:ext>
            </a:extLst>
          </p:cNvPr>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a:extLst>
              <a:ext uri="{FF2B5EF4-FFF2-40B4-BE49-F238E27FC236}">
                <a16:creationId xmlns:a16="http://schemas.microsoft.com/office/drawing/2014/main" id="{05623EE8-15FD-D02E-D5E2-446376CC0E68}"/>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a:extLst>
              <a:ext uri="{FF2B5EF4-FFF2-40B4-BE49-F238E27FC236}">
                <a16:creationId xmlns:a16="http://schemas.microsoft.com/office/drawing/2014/main" id="{5F271581-58E7-1FFE-3EFC-7C8ABCB335A2}"/>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a:extLst>
              <a:ext uri="{FF2B5EF4-FFF2-40B4-BE49-F238E27FC236}">
                <a16:creationId xmlns:a16="http://schemas.microsoft.com/office/drawing/2014/main" id="{17FC6D30-2496-7289-EC80-E8C2B1560841}"/>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a:extLst>
              <a:ext uri="{FF2B5EF4-FFF2-40B4-BE49-F238E27FC236}">
                <a16:creationId xmlns:a16="http://schemas.microsoft.com/office/drawing/2014/main" id="{74799E8E-BBCD-2794-5EAC-6FB652F7BAF7}"/>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a:extLst>
              <a:ext uri="{FF2B5EF4-FFF2-40B4-BE49-F238E27FC236}">
                <a16:creationId xmlns:a16="http://schemas.microsoft.com/office/drawing/2014/main" id="{1F3BD10E-A9B6-452A-CEF0-65469E93C322}"/>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a:extLst>
              <a:ext uri="{FF2B5EF4-FFF2-40B4-BE49-F238E27FC236}">
                <a16:creationId xmlns:a16="http://schemas.microsoft.com/office/drawing/2014/main" id="{EE29A7E5-31DB-30AC-90EB-1D2D1DC3D278}"/>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a:extLst>
              <a:ext uri="{FF2B5EF4-FFF2-40B4-BE49-F238E27FC236}">
                <a16:creationId xmlns:a16="http://schemas.microsoft.com/office/drawing/2014/main" id="{E1B3A54B-880E-10F1-F084-4750322B09EF}"/>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82413488-A0B7-A02A-AF80-174A3176A977}"/>
              </a:ext>
            </a:extLst>
          </p:cNvPr>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a:extLst>
              <a:ext uri="{FF2B5EF4-FFF2-40B4-BE49-F238E27FC236}">
                <a16:creationId xmlns:a16="http://schemas.microsoft.com/office/drawing/2014/main" id="{71572833-122A-9952-D02B-AFD5DC9639CD}"/>
              </a:ext>
            </a:extLst>
          </p:cNvPr>
          <p:cNvSpPr>
            <a:spLocks noGrp="1"/>
          </p:cNvSpPr>
          <p:nvPr>
            <p:ph type="title"/>
          </p:nvPr>
        </p:nvSpPr>
        <p:spPr>
          <a:xfrm>
            <a:off x="304800" y="-228600"/>
            <a:ext cx="8839200" cy="1143000"/>
          </a:xfrm>
        </p:spPr>
        <p:txBody>
          <a:bodyPr>
            <a:normAutofit/>
          </a:bodyPr>
          <a:lstStyle/>
          <a:p>
            <a:r>
              <a:rPr lang="en-US" dirty="0">
                <a:latin typeface="Times New Roman" pitchFamily="18" charset="0"/>
                <a:cs typeface="Times New Roman" pitchFamily="18" charset="0"/>
              </a:rPr>
              <a:t>Seeing Through</a:t>
            </a:r>
            <a:endParaRPr lang="en-US" dirty="0"/>
          </a:p>
        </p:txBody>
      </p:sp>
      <p:sp>
        <p:nvSpPr>
          <p:cNvPr id="15" name="Content Placeholder 2">
            <a:extLst>
              <a:ext uri="{FF2B5EF4-FFF2-40B4-BE49-F238E27FC236}">
                <a16:creationId xmlns:a16="http://schemas.microsoft.com/office/drawing/2014/main" id="{95F5B1B9-126A-7A4B-9C0A-45BD09280379}"/>
              </a:ext>
            </a:extLst>
          </p:cNvPr>
          <p:cNvSpPr txBox="1">
            <a:spLocks/>
          </p:cNvSpPr>
          <p:nvPr/>
        </p:nvSpPr>
        <p:spPr>
          <a:xfrm>
            <a:off x="0" y="6858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hair, those cold metallic eyes in a subway window reflection—were his own.</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It would take years of hard work and self-contemplation, but Jeffrey would once again encounter this man on the train, and marvel at what a kinder person he had become.</a:t>
            </a:r>
          </a:p>
        </p:txBody>
      </p:sp>
    </p:spTree>
    <p:extLst>
      <p:ext uri="{BB962C8B-B14F-4D97-AF65-F5344CB8AC3E}">
        <p14:creationId xmlns:p14="http://schemas.microsoft.com/office/powerpoint/2010/main" val="1626832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Question 1</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Which best describes Jeffrey's attitude in this passage?</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 anxious</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B. studied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C. unfortunate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D. self-aware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E. self-pitying</a:t>
            </a:r>
          </a:p>
        </p:txBody>
      </p:sp>
    </p:spTree>
    <p:extLst>
      <p:ext uri="{BB962C8B-B14F-4D97-AF65-F5344CB8AC3E}">
        <p14:creationId xmlns:p14="http://schemas.microsoft.com/office/powerpoint/2010/main" val="2361779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b="1" dirty="0">
                <a:latin typeface="Times New Roman" panose="02020603050405020304" pitchFamily="18" charset="0"/>
                <a:cs typeface="Times New Roman" panose="02020603050405020304" pitchFamily="18" charset="0"/>
              </a:rPr>
              <a:t>D</a:t>
            </a:r>
            <a:r>
              <a:rPr lang="en-US" sz="3200" dirty="0">
                <a:latin typeface="Times New Roman" panose="02020603050405020304" pitchFamily="18" charset="0"/>
                <a:cs typeface="Times New Roman" panose="02020603050405020304" pitchFamily="18" charset="0"/>
              </a:rPr>
              <a:t> </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Self-aware means aware of one’s own emotions and behaviors. In the passage, Jeffrey realizes that he has become someone he does not like. He thinks about how this has happened. Near the end of the story, he thinks about changing. Then we learn that in time Jeffrey becomes “a kinder person.” Since Jeffrey is thinking about what kind of person he is and how he became that way, his attitude in the passage is self-aware. Therefore (D) is correct. </a:t>
            </a:r>
          </a:p>
        </p:txBody>
      </p:sp>
    </p:spTree>
    <p:extLst>
      <p:ext uri="{BB962C8B-B14F-4D97-AF65-F5344CB8AC3E}">
        <p14:creationId xmlns:p14="http://schemas.microsoft.com/office/powerpoint/2010/main" val="968357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Content Placeholder 2"/>
          <p:cNvSpPr txBox="1">
            <a:spLocks/>
          </p:cNvSpPr>
          <p:nvPr/>
        </p:nvSpPr>
        <p:spPr>
          <a:xfrm>
            <a:off x="-57150" y="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Anxious means apprehensive or worried about a future matter. Jeffrey is not concerned with a future matter, so his attitude is not anxious. Therefore (A) is incorrect. Studied means well thought out or practiced. Jeffrey is thinking about his life, but his thoughts do not appear to be practiced, so his attitude is not studied. Therefore (B) is incorrect. Unfortunate means unsuccessful or unlucky. Jeffrey may not like himself, but he has been very successful. Therefore (C) is incorrect. Self-pitying is feeling sorry for oneself. In this story, Jeffrey seems to truly dislike himself, but he does not feel sorry for himself, so his attitude cannot be described as self-pitying. Therefore (E) is incorrect.</a:t>
            </a:r>
          </a:p>
        </p:txBody>
      </p:sp>
    </p:spTree>
    <p:extLst>
      <p:ext uri="{BB962C8B-B14F-4D97-AF65-F5344CB8AC3E}">
        <p14:creationId xmlns:p14="http://schemas.microsoft.com/office/powerpoint/2010/main" val="1644972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Question 2</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 fierce wave – a tsunami – of antipathy came over him. Given the imagery in this sentence, which word would be the best substitute for came?</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 angled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B. drizzled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C. rained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D. washed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E. trampled</a:t>
            </a:r>
          </a:p>
        </p:txBody>
      </p:sp>
    </p:spTree>
    <p:extLst>
      <p:ext uri="{BB962C8B-B14F-4D97-AF65-F5344CB8AC3E}">
        <p14:creationId xmlns:p14="http://schemas.microsoft.com/office/powerpoint/2010/main" val="1492482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D </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 tsunami is an enormous wave. If something has washed over someone, it has flowed over them. Since the action of a wave can be described as flowing, washed is a good substitute for came in this sentence. Therefore (D) is correct.</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Angled means bent at an angle or slanted. A giant wave does not approach at an angle. Therefore (A) is incorrect. Drizzled means slowly poured down in</a:t>
            </a:r>
          </a:p>
        </p:txBody>
      </p:sp>
    </p:spTree>
    <p:extLst>
      <p:ext uri="{BB962C8B-B14F-4D97-AF65-F5344CB8AC3E}">
        <p14:creationId xmlns:p14="http://schemas.microsoft.com/office/powerpoint/2010/main" val="1968406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small amounts. Since a tsunami is huge and moves over, not down, it is not slowly poured out. Therefore (B) is incorrect. Something that rained down came down more quickly and forcefully than something that drizzled, but it still came down, unlike a wave. Therefore (C) is incorrect. Trampled means to have beaten something down by stepping on it. Waves do not have feet to beat things down. Therefore (E) is incorrect.</a:t>
            </a:r>
          </a:p>
        </p:txBody>
      </p:sp>
    </p:spTree>
    <p:extLst>
      <p:ext uri="{BB962C8B-B14F-4D97-AF65-F5344CB8AC3E}">
        <p14:creationId xmlns:p14="http://schemas.microsoft.com/office/powerpoint/2010/main" val="718676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Question 3</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As used in paragraph 2, which word is the best antonym for antipathy?</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 ambivalence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B. desperation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C. admiration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D. infatuation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E. happiness</a:t>
            </a:r>
          </a:p>
        </p:txBody>
      </p:sp>
    </p:spTree>
    <p:extLst>
      <p:ext uri="{BB962C8B-B14F-4D97-AF65-F5344CB8AC3E}">
        <p14:creationId xmlns:p14="http://schemas.microsoft.com/office/powerpoint/2010/main" val="3551386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C. </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antipathy: an intense feeling of dislike or disgust. </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In paragraph 2, Jeffrey suddenly feels antipathy for a man who is his bitter enemy. Since the man Jeffrey feels antipathy for his enemy, someone he absolutely hates, the reader can infer that antipathy is a strong feeling of dislike. Admiration is a feeling of esteem, wonder and respect. Since this is the opposite of intense dislike, admiration is a good antonym for antipathy. Therefore (C) is correct.</a:t>
            </a:r>
          </a:p>
        </p:txBody>
      </p:sp>
    </p:spTree>
    <p:extLst>
      <p:ext uri="{BB962C8B-B14F-4D97-AF65-F5344CB8AC3E}">
        <p14:creationId xmlns:p14="http://schemas.microsoft.com/office/powerpoint/2010/main" val="1644065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Ambivalence is the coexistence of conflicting feelings. Conflicting feelings are not the opposite of feelings of dislike, so ambivalence is not an antonym for antipathy. Therefore (A) is incorrect. Desperation is a feeling of near hopelessness. Feeling hopeless is not the opposite of dislike, so desperation is not an antonym for antipathy. Therefore (B) is incorrect. Infatuation is a feeling of exaggerated but short-lived passion. While feeling passionate about someone is certainly different than disliking them, infatuation is always temporary. Dislike can be permanent. This means that</a:t>
            </a:r>
          </a:p>
        </p:txBody>
      </p:sp>
    </p:spTree>
    <p:extLst>
      <p:ext uri="{BB962C8B-B14F-4D97-AF65-F5344CB8AC3E}">
        <p14:creationId xmlns:p14="http://schemas.microsoft.com/office/powerpoint/2010/main" val="2349111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1E341-555F-7499-BFFA-22DD2B2E118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5AA1DA-E9C3-2508-C1B3-4A2428C2721D}"/>
              </a:ext>
            </a:extLst>
          </p:cNvPr>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a:extLst>
              <a:ext uri="{FF2B5EF4-FFF2-40B4-BE49-F238E27FC236}">
                <a16:creationId xmlns:a16="http://schemas.microsoft.com/office/drawing/2014/main" id="{14ECB501-BCA9-CB3B-E2A1-9F690FA05569}"/>
              </a:ext>
            </a:extLst>
          </p:cNvPr>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a:extLst>
              <a:ext uri="{FF2B5EF4-FFF2-40B4-BE49-F238E27FC236}">
                <a16:creationId xmlns:a16="http://schemas.microsoft.com/office/drawing/2014/main" id="{6E6098B9-29A1-7558-CC66-E2995484E3E4}"/>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a:extLst>
              <a:ext uri="{FF2B5EF4-FFF2-40B4-BE49-F238E27FC236}">
                <a16:creationId xmlns:a16="http://schemas.microsoft.com/office/drawing/2014/main" id="{6065E00C-2DE7-E5DA-683B-99FA79849C61}"/>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a:extLst>
              <a:ext uri="{FF2B5EF4-FFF2-40B4-BE49-F238E27FC236}">
                <a16:creationId xmlns:a16="http://schemas.microsoft.com/office/drawing/2014/main" id="{0613F802-CAA2-CD31-E309-18B871217419}"/>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a:extLst>
              <a:ext uri="{FF2B5EF4-FFF2-40B4-BE49-F238E27FC236}">
                <a16:creationId xmlns:a16="http://schemas.microsoft.com/office/drawing/2014/main" id="{B5C6533F-F671-98A4-CBC6-24B75A182A6F}"/>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a:extLst>
              <a:ext uri="{FF2B5EF4-FFF2-40B4-BE49-F238E27FC236}">
                <a16:creationId xmlns:a16="http://schemas.microsoft.com/office/drawing/2014/main" id="{361019AA-7965-CABE-7A9E-C342FC03369E}"/>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a:extLst>
              <a:ext uri="{FF2B5EF4-FFF2-40B4-BE49-F238E27FC236}">
                <a16:creationId xmlns:a16="http://schemas.microsoft.com/office/drawing/2014/main" id="{6F474B10-2947-E67E-51B4-D8A4D5FAD329}"/>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a:extLst>
              <a:ext uri="{FF2B5EF4-FFF2-40B4-BE49-F238E27FC236}">
                <a16:creationId xmlns:a16="http://schemas.microsoft.com/office/drawing/2014/main" id="{ECAC48A9-4243-0074-DD06-782B1FF5D6FD}"/>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D54699DB-1A34-FDA8-FF62-975384F55B40}"/>
              </a:ext>
            </a:extLst>
          </p:cNvPr>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a:extLst>
              <a:ext uri="{FF2B5EF4-FFF2-40B4-BE49-F238E27FC236}">
                <a16:creationId xmlns:a16="http://schemas.microsoft.com/office/drawing/2014/main" id="{608A8FC6-2C9A-B745-730B-9AFF6CA8E6FE}"/>
              </a:ext>
            </a:extLst>
          </p:cNvPr>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a:extLst>
              <a:ext uri="{FF2B5EF4-FFF2-40B4-BE49-F238E27FC236}">
                <a16:creationId xmlns:a16="http://schemas.microsoft.com/office/drawing/2014/main" id="{D930D169-723D-3D08-7D42-1CCC4CB1BCF6}"/>
              </a:ext>
            </a:extLst>
          </p:cNvPr>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infatuation is not an antonym for antipathy. Therefore (D) is incorrect. Happiness is a feeling of joy. Dislike and joy are different, but not opposite, so happiness is not an antonym for antipathy. Therefore (E) is incorrect.</a:t>
            </a:r>
          </a:p>
        </p:txBody>
      </p:sp>
    </p:spTree>
    <p:extLst>
      <p:ext uri="{BB962C8B-B14F-4D97-AF65-F5344CB8AC3E}">
        <p14:creationId xmlns:p14="http://schemas.microsoft.com/office/powerpoint/2010/main" val="2480612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Question 4</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Using the story as a guide, it can be inferred that </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 Jeffrey has few friends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B. Jeffrey likes to be the boss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C. Jeffrey has had a difficult life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D. Jeffrey is capable of change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E. Jeffrey rides the subway frequently</a:t>
            </a:r>
          </a:p>
        </p:txBody>
      </p:sp>
    </p:spTree>
    <p:extLst>
      <p:ext uri="{BB962C8B-B14F-4D97-AF65-F5344CB8AC3E}">
        <p14:creationId xmlns:p14="http://schemas.microsoft.com/office/powerpoint/2010/main" val="73522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b="1" dirty="0">
                <a:latin typeface="Times New Roman" panose="02020603050405020304" pitchFamily="18" charset="0"/>
                <a:cs typeface="Times New Roman" pitchFamily="18" charset="0"/>
              </a:rPr>
              <a:t>D. </a:t>
            </a:r>
            <a:endParaRPr lang="en-US" sz="3200" dirty="0">
              <a:latin typeface="Times New Roman" panose="02020603050405020304" pitchFamily="18" charset="0"/>
              <a:cs typeface="Times New Roman" pitchFamily="18" charset="0"/>
            </a:endParaRP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itchFamily="18" charset="0"/>
              </a:rPr>
              <a:t>Much of the story is about what a terrible person Jeffrey has become. However, we learn at the end that he eventually changes into “a kinder person.” Since Jeffrey was once a selfish person, and then became a kinder person, he has changed. One must be capable of change in order to change, so we have evidence that Jeffrey is capable of change. Therefore (D) is correct. </a:t>
            </a:r>
          </a:p>
        </p:txBody>
      </p:sp>
    </p:spTree>
    <p:extLst>
      <p:ext uri="{BB962C8B-B14F-4D97-AF65-F5344CB8AC3E}">
        <p14:creationId xmlns:p14="http://schemas.microsoft.com/office/powerpoint/2010/main" val="3577489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While the story does indicate that Jeffrey has become someone who doesn’t like himself, it does not give the reader any information about whether he has many friends. Therefore (A) is incorrect. In the middle of the passage, we learn that Jeffrey “had climbed the upper echelons of the Wall Street firm using an imperious manner with his subordinates: issuing directives; ordaining idiosyncratic decrees; generally making certain everyone knew he was the boss.” This tells us that Jeffrey got to his current position by acting like the boss, but tells us nothing about whether he liked being the boss. Therefore (B)</a:t>
            </a:r>
          </a:p>
        </p:txBody>
      </p:sp>
    </p:spTree>
    <p:extLst>
      <p:ext uri="{BB962C8B-B14F-4D97-AF65-F5344CB8AC3E}">
        <p14:creationId xmlns:p14="http://schemas.microsoft.com/office/powerpoint/2010/main" val="1570136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FE54C-F0B1-E8EE-9749-07581ECE131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563733-15D7-1D6E-804A-363C02445ACC}"/>
              </a:ext>
            </a:extLst>
          </p:cNvPr>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a:extLst>
              <a:ext uri="{FF2B5EF4-FFF2-40B4-BE49-F238E27FC236}">
                <a16:creationId xmlns:a16="http://schemas.microsoft.com/office/drawing/2014/main" id="{3B0F9416-AFCD-49FB-5901-6681D34C2D28}"/>
              </a:ext>
            </a:extLst>
          </p:cNvPr>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a:extLst>
              <a:ext uri="{FF2B5EF4-FFF2-40B4-BE49-F238E27FC236}">
                <a16:creationId xmlns:a16="http://schemas.microsoft.com/office/drawing/2014/main" id="{900A6930-F2C5-86AE-B01A-C0E60CE94D46}"/>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a:extLst>
              <a:ext uri="{FF2B5EF4-FFF2-40B4-BE49-F238E27FC236}">
                <a16:creationId xmlns:a16="http://schemas.microsoft.com/office/drawing/2014/main" id="{8610575A-84A5-6FD2-EB7B-AF88CEA9F2E2}"/>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a:extLst>
              <a:ext uri="{FF2B5EF4-FFF2-40B4-BE49-F238E27FC236}">
                <a16:creationId xmlns:a16="http://schemas.microsoft.com/office/drawing/2014/main" id="{3DE58AC9-79D0-E8CA-8AE3-51BA59E0F331}"/>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a:extLst>
              <a:ext uri="{FF2B5EF4-FFF2-40B4-BE49-F238E27FC236}">
                <a16:creationId xmlns:a16="http://schemas.microsoft.com/office/drawing/2014/main" id="{06C6503A-B21F-923D-4FB9-A9EE779DBE76}"/>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a:extLst>
              <a:ext uri="{FF2B5EF4-FFF2-40B4-BE49-F238E27FC236}">
                <a16:creationId xmlns:a16="http://schemas.microsoft.com/office/drawing/2014/main" id="{81C71881-1670-D511-16B7-311263817878}"/>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a:extLst>
              <a:ext uri="{FF2B5EF4-FFF2-40B4-BE49-F238E27FC236}">
                <a16:creationId xmlns:a16="http://schemas.microsoft.com/office/drawing/2014/main" id="{941D3184-1408-6391-133E-35DD2A440E09}"/>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a:extLst>
              <a:ext uri="{FF2B5EF4-FFF2-40B4-BE49-F238E27FC236}">
                <a16:creationId xmlns:a16="http://schemas.microsoft.com/office/drawing/2014/main" id="{CB735296-119C-51BD-B3C3-54368F08C50C}"/>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AA634B38-CAF8-87FE-55A0-A5B17D7B845B}"/>
              </a:ext>
            </a:extLst>
          </p:cNvPr>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a:extLst>
              <a:ext uri="{FF2B5EF4-FFF2-40B4-BE49-F238E27FC236}">
                <a16:creationId xmlns:a16="http://schemas.microsoft.com/office/drawing/2014/main" id="{C579FF22-8569-EE24-E039-145D34660974}"/>
              </a:ext>
            </a:extLst>
          </p:cNvPr>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a:extLst>
              <a:ext uri="{FF2B5EF4-FFF2-40B4-BE49-F238E27FC236}">
                <a16:creationId xmlns:a16="http://schemas.microsoft.com/office/drawing/2014/main" id="{0F99F85B-E070-86CC-5265-96FE0F9A6BC6}"/>
              </a:ext>
            </a:extLst>
          </p:cNvPr>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is incorrect. In the middle of the story, we learn that Jeffrey had an “impoverished upbringing,” but that does not necessarily tell us that his life was difficult. Since the only other information we have about Jeffrey’s life is that he is wealthy and powerful, the story does not indicate that he has had a difficult life. Therefore (C) is incorrect. In the beginning of the story, Jeffrey boards the subway. At the end of the story, we learn that Jeffrey sees himself on the train once more years later. This information does not allow the reader to determine how often he rides the subway. Therefore (E) is incorrect. </a:t>
            </a:r>
          </a:p>
        </p:txBody>
      </p:sp>
    </p:spTree>
    <p:extLst>
      <p:ext uri="{BB962C8B-B14F-4D97-AF65-F5344CB8AC3E}">
        <p14:creationId xmlns:p14="http://schemas.microsoft.com/office/powerpoint/2010/main" val="41667508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Question 5</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"As the train reached full speed, the cacophony of speeding wheels against the winding rails and of the wildly vibrating train filled Jeffrey’s ears." </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Which literary technique is used in the above sentence</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 metaphor, a direct comparison between two things which does not use like or as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B. analogy, an extended comparison showing the similarities between two things</a:t>
            </a:r>
          </a:p>
        </p:txBody>
      </p:sp>
    </p:spTree>
    <p:extLst>
      <p:ext uri="{BB962C8B-B14F-4D97-AF65-F5344CB8AC3E}">
        <p14:creationId xmlns:p14="http://schemas.microsoft.com/office/powerpoint/2010/main" val="13569171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051A2-61D6-F195-3A03-30493B7F7B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483007-0FD3-58BD-AA68-DD2668356E66}"/>
              </a:ext>
            </a:extLst>
          </p:cNvPr>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a:extLst>
              <a:ext uri="{FF2B5EF4-FFF2-40B4-BE49-F238E27FC236}">
                <a16:creationId xmlns:a16="http://schemas.microsoft.com/office/drawing/2014/main" id="{3B612006-8106-05CC-D7FB-4EB2258F3146}"/>
              </a:ext>
            </a:extLst>
          </p:cNvPr>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a:extLst>
              <a:ext uri="{FF2B5EF4-FFF2-40B4-BE49-F238E27FC236}">
                <a16:creationId xmlns:a16="http://schemas.microsoft.com/office/drawing/2014/main" id="{B794503D-AF66-C40A-DA25-559064B4C45A}"/>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a:extLst>
              <a:ext uri="{FF2B5EF4-FFF2-40B4-BE49-F238E27FC236}">
                <a16:creationId xmlns:a16="http://schemas.microsoft.com/office/drawing/2014/main" id="{7BBE853E-B8EE-BBF8-31DA-1C8FF11ACAD9}"/>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a:extLst>
              <a:ext uri="{FF2B5EF4-FFF2-40B4-BE49-F238E27FC236}">
                <a16:creationId xmlns:a16="http://schemas.microsoft.com/office/drawing/2014/main" id="{AB8F5DC7-D4D3-D1F4-DEA6-EE7122645B26}"/>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a:extLst>
              <a:ext uri="{FF2B5EF4-FFF2-40B4-BE49-F238E27FC236}">
                <a16:creationId xmlns:a16="http://schemas.microsoft.com/office/drawing/2014/main" id="{FB8069B6-4332-AE42-3AA4-73BE24A8EFD6}"/>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a:extLst>
              <a:ext uri="{FF2B5EF4-FFF2-40B4-BE49-F238E27FC236}">
                <a16:creationId xmlns:a16="http://schemas.microsoft.com/office/drawing/2014/main" id="{57A1130C-8AD8-EC73-AEEB-B1200C54CF1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a:extLst>
              <a:ext uri="{FF2B5EF4-FFF2-40B4-BE49-F238E27FC236}">
                <a16:creationId xmlns:a16="http://schemas.microsoft.com/office/drawing/2014/main" id="{13F2BEB8-CD21-C207-D379-81C1C8AC6BBC}"/>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a:extLst>
              <a:ext uri="{FF2B5EF4-FFF2-40B4-BE49-F238E27FC236}">
                <a16:creationId xmlns:a16="http://schemas.microsoft.com/office/drawing/2014/main" id="{17011C8C-8979-1965-71FB-4F5CED85F03A}"/>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C38432AD-77C1-1723-6778-BF1E0C11A534}"/>
              </a:ext>
            </a:extLst>
          </p:cNvPr>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a:extLst>
              <a:ext uri="{FF2B5EF4-FFF2-40B4-BE49-F238E27FC236}">
                <a16:creationId xmlns:a16="http://schemas.microsoft.com/office/drawing/2014/main" id="{C49E1A2E-BCE7-8949-BB30-1C00567A3CB2}"/>
              </a:ext>
            </a:extLst>
          </p:cNvPr>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Question 5</a:t>
            </a:r>
            <a:endParaRPr lang="en-US" dirty="0"/>
          </a:p>
        </p:txBody>
      </p:sp>
      <p:sp>
        <p:nvSpPr>
          <p:cNvPr id="15" name="Content Placeholder 2">
            <a:extLst>
              <a:ext uri="{FF2B5EF4-FFF2-40B4-BE49-F238E27FC236}">
                <a16:creationId xmlns:a16="http://schemas.microsoft.com/office/drawing/2014/main" id="{81E37DD3-F0DC-CBEC-7924-910E14971418}"/>
              </a:ext>
            </a:extLst>
          </p:cNvPr>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C. imagery, characterized by appealing to a sense or combination of senses </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D. irony, characterized by a contrast or incongruity between what is stated and what is meant </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E. personification, characterized by something being described as if it had human qualities</a:t>
            </a:r>
          </a:p>
        </p:txBody>
      </p:sp>
    </p:spTree>
    <p:extLst>
      <p:ext uri="{BB962C8B-B14F-4D97-AF65-F5344CB8AC3E}">
        <p14:creationId xmlns:p14="http://schemas.microsoft.com/office/powerpoint/2010/main" val="1863398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b="1" dirty="0">
                <a:latin typeface="Times New Roman" panose="02020603050405020304" pitchFamily="18" charset="0"/>
                <a:cs typeface="Times New Roman" pitchFamily="18" charset="0"/>
              </a:rPr>
              <a:t>C. </a:t>
            </a:r>
            <a:endParaRPr lang="en-US" sz="3200" dirty="0">
              <a:latin typeface="Times New Roman" panose="02020603050405020304" pitchFamily="18" charset="0"/>
              <a:cs typeface="Times New Roman" pitchFamily="18" charset="0"/>
            </a:endParaRP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itchFamily="18" charset="0"/>
              </a:rPr>
              <a:t>Cacophony is the unpleasantness of a certain sound or sounds. The sentence appeals to the reader’s sense of hearing by describing in detail the components of the train that work together to create a loud, unpleasant but distinctive noise. The sentence uses imagery to create a sensory experience for the reader based on hearing. Therefore (C) is correct. </a:t>
            </a:r>
          </a:p>
        </p:txBody>
      </p:sp>
    </p:spTree>
    <p:extLst>
      <p:ext uri="{BB962C8B-B14F-4D97-AF65-F5344CB8AC3E}">
        <p14:creationId xmlns:p14="http://schemas.microsoft.com/office/powerpoint/2010/main" val="3710133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1678F-AFEB-BFB6-89AE-D89E5A37C5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F40333-A88E-2DB9-4E7E-2CAAEC4E7886}"/>
              </a:ext>
            </a:extLst>
          </p:cNvPr>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a:extLst>
              <a:ext uri="{FF2B5EF4-FFF2-40B4-BE49-F238E27FC236}">
                <a16:creationId xmlns:a16="http://schemas.microsoft.com/office/drawing/2014/main" id="{6B252529-F63C-D729-ED21-979B4FEB5975}"/>
              </a:ext>
            </a:extLst>
          </p:cNvPr>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a:extLst>
              <a:ext uri="{FF2B5EF4-FFF2-40B4-BE49-F238E27FC236}">
                <a16:creationId xmlns:a16="http://schemas.microsoft.com/office/drawing/2014/main" id="{F22C278C-066C-7FB0-7740-FC76499D1F8F}"/>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a:extLst>
              <a:ext uri="{FF2B5EF4-FFF2-40B4-BE49-F238E27FC236}">
                <a16:creationId xmlns:a16="http://schemas.microsoft.com/office/drawing/2014/main" id="{055A2AE6-A5B8-F843-825E-C196DFA481C4}"/>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a:extLst>
              <a:ext uri="{FF2B5EF4-FFF2-40B4-BE49-F238E27FC236}">
                <a16:creationId xmlns:a16="http://schemas.microsoft.com/office/drawing/2014/main" id="{BE85E934-F481-A77F-EB27-AC359D1A33C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a:extLst>
              <a:ext uri="{FF2B5EF4-FFF2-40B4-BE49-F238E27FC236}">
                <a16:creationId xmlns:a16="http://schemas.microsoft.com/office/drawing/2014/main" id="{F34F5646-7DD0-FCF3-8BB2-937175E2A490}"/>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a:extLst>
              <a:ext uri="{FF2B5EF4-FFF2-40B4-BE49-F238E27FC236}">
                <a16:creationId xmlns:a16="http://schemas.microsoft.com/office/drawing/2014/main" id="{1CFD93D7-8042-7701-4061-0F2FDBB7B676}"/>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a:extLst>
              <a:ext uri="{FF2B5EF4-FFF2-40B4-BE49-F238E27FC236}">
                <a16:creationId xmlns:a16="http://schemas.microsoft.com/office/drawing/2014/main" id="{0F6D8022-5886-3B01-5023-7D4CD9C4C684}"/>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a:extLst>
              <a:ext uri="{FF2B5EF4-FFF2-40B4-BE49-F238E27FC236}">
                <a16:creationId xmlns:a16="http://schemas.microsoft.com/office/drawing/2014/main" id="{51F4EC74-1C39-2552-AF90-2F61DCC0340D}"/>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19FB8519-40B4-AF9A-856F-B037D0E0CB07}"/>
              </a:ext>
            </a:extLst>
          </p:cNvPr>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a:extLst>
              <a:ext uri="{FF2B5EF4-FFF2-40B4-BE49-F238E27FC236}">
                <a16:creationId xmlns:a16="http://schemas.microsoft.com/office/drawing/2014/main" id="{8A7B72FE-D17B-1C2A-378F-D9BAD62E27C6}"/>
              </a:ext>
            </a:extLst>
          </p:cNvPr>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a:extLst>
              <a:ext uri="{FF2B5EF4-FFF2-40B4-BE49-F238E27FC236}">
                <a16:creationId xmlns:a16="http://schemas.microsoft.com/office/drawing/2014/main" id="{506A6A9C-8132-6146-53C8-8527EA2A63A9}"/>
              </a:ext>
            </a:extLst>
          </p:cNvPr>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There is no comparison between two things. Therefore (A) is incorrect. The sentence does describe several things, but it does so to give the reader a sense of the sounds they make, not to compare them to each other. Therefore (B) is incorrect. There is no incongruity between what is stated and what is meant. Therefore (D) is incorrect. The sentence does not describe any of the objects as if they were human. Therefore (E) is incorrect.</a:t>
            </a:r>
          </a:p>
        </p:txBody>
      </p:sp>
    </p:spTree>
    <p:extLst>
      <p:ext uri="{BB962C8B-B14F-4D97-AF65-F5344CB8AC3E}">
        <p14:creationId xmlns:p14="http://schemas.microsoft.com/office/powerpoint/2010/main" val="2832088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Question 6</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Which of the following best describes the main conflict in this passage? </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 man versus man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B. man versus himself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C. man versus society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D. man versus machine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E. man versus nature</a:t>
            </a:r>
          </a:p>
        </p:txBody>
      </p:sp>
    </p:spTree>
    <p:extLst>
      <p:ext uri="{BB962C8B-B14F-4D97-AF65-F5344CB8AC3E}">
        <p14:creationId xmlns:p14="http://schemas.microsoft.com/office/powerpoint/2010/main" val="1653031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b="1" dirty="0">
                <a:latin typeface="Times New Roman" panose="02020603050405020304" pitchFamily="18" charset="0"/>
                <a:cs typeface="Times New Roman" pitchFamily="18" charset="0"/>
              </a:rPr>
              <a:t>B</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itchFamily="18" charset="0"/>
              </a:rPr>
              <a:t>In the story, Jeffrey sees himself and thinks about the person he has become. He detests that person, and so detests himself. Near the end of the passage, he wonders, “Could this man change? Jeffrey did not know. But maybe, just maybe, he could try.” The reader can infer from this that Jeffrey is not sure if he can become the kind of person he wants to be. As stated at the end of the passage, his change “would take years of hard work and self-contemplation.” What Jeffrey has to overcome here is his own</a:t>
            </a:r>
          </a:p>
        </p:txBody>
      </p:sp>
    </p:spTree>
    <p:extLst>
      <p:ext uri="{BB962C8B-B14F-4D97-AF65-F5344CB8AC3E}">
        <p14:creationId xmlns:p14="http://schemas.microsoft.com/office/powerpoint/2010/main" val="37355561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selfishness. In order to change, Jeffrey has to overcome himself, so the conflict in this passage is man versus himself. Therefore (B) is correct. </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The story does not provide information to support answer choices (A), (C), (D), and (E). Therefore they are incorrect.</a:t>
            </a:r>
          </a:p>
        </p:txBody>
      </p:sp>
    </p:spTree>
    <p:extLst>
      <p:ext uri="{BB962C8B-B14F-4D97-AF65-F5344CB8AC3E}">
        <p14:creationId xmlns:p14="http://schemas.microsoft.com/office/powerpoint/2010/main" val="550025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Question 7</a:t>
            </a:r>
            <a:endParaRPr lang="en-US" dirty="0"/>
          </a:p>
        </p:txBody>
      </p:sp>
      <p:sp>
        <p:nvSpPr>
          <p:cNvPr id="15" name="Content Placeholder 2"/>
          <p:cNvSpPr txBox="1">
            <a:spLocks/>
          </p:cNvSpPr>
          <p:nvPr/>
        </p:nvSpPr>
        <p:spPr>
          <a:xfrm>
            <a:off x="0" y="5334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As used in paragraph 4, anathema is best defined as a(n): </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 curse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B. vision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C. embarrassment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D. antagonist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E. problem </a:t>
            </a:r>
          </a:p>
        </p:txBody>
      </p:sp>
    </p:spTree>
    <p:extLst>
      <p:ext uri="{BB962C8B-B14F-4D97-AF65-F5344CB8AC3E}">
        <p14:creationId xmlns:p14="http://schemas.microsoft.com/office/powerpoint/2010/main" val="1941382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b="1" dirty="0">
                <a:latin typeface="Times New Roman" panose="02020603050405020304" pitchFamily="18" charset="0"/>
                <a:cs typeface="Times New Roman" pitchFamily="18" charset="0"/>
              </a:rPr>
              <a:t>A. </a:t>
            </a:r>
          </a:p>
          <a:p>
            <a:pPr marL="342900" indent="-342900" algn="just">
              <a:spcBef>
                <a:spcPct val="20000"/>
              </a:spcBef>
              <a:buFont typeface="Arial" pitchFamily="34" charset="0"/>
              <a:buChar char="•"/>
              <a:defRPr/>
            </a:pPr>
            <a:endParaRPr lang="en-US" sz="3200" b="1" dirty="0">
              <a:latin typeface="Times New Roman" panose="02020603050405020304" pitchFamily="18" charset="0"/>
              <a:cs typeface="Times New Roman"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anathema: a curse; a person or thing detested. </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In paragraph 4, Jeffrey lists the reasons the man he saw across from him “had become anathema to him.” The story goes on to describe the man’s poor treatment of subordinates during his ascent in a Wall Street firm and tells how the man spent money on things just to impress other people. In paragraph 7, the passage states, “What bothered Jeffrey most</a:t>
            </a:r>
            <a:endParaRPr lang="en-US" sz="3200" b="1"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10018435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about this man was that he never even attempted to make amends for his evil ways.” The reader can</a:t>
            </a:r>
            <a:r>
              <a:rPr lang="en-US" sz="3200" b="1" dirty="0">
                <a:latin typeface="Times New Roman" panose="02020603050405020304" pitchFamily="18" charset="0"/>
                <a:cs typeface="Times New Roman" pitchFamily="18" charset="0"/>
              </a:rPr>
              <a:t> </a:t>
            </a:r>
            <a:r>
              <a:rPr lang="en-US" sz="3200" dirty="0">
                <a:latin typeface="Times New Roman" panose="02020603050405020304" pitchFamily="18" charset="0"/>
                <a:cs typeface="Times New Roman" panose="02020603050405020304" pitchFamily="18" charset="0"/>
              </a:rPr>
              <a:t>infer from this information that anathema is something terrible or detested—a curse. Therefore (A) is correct.</a:t>
            </a:r>
          </a:p>
          <a:p>
            <a:pPr marL="342900" indent="-342900" algn="just">
              <a:spcBef>
                <a:spcPct val="20000"/>
              </a:spcBef>
              <a:buFont typeface="Arial" pitchFamily="34" charset="0"/>
              <a:buChar char="•"/>
              <a:defRPr/>
            </a:pPr>
            <a:endParaRPr lang="en-US" sz="3200" b="1"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 vision is an image produced by the imagination. In paragraph 4, the story does say that the man’s “image seemed to appear nearly everywhere [Jeffrey] went.” However, the reasons the man was anathema to Jeffrey are listed in the next 3 paragraphs. The man is not anathema to Jeffrey</a:t>
            </a:r>
            <a:endParaRPr lang="en-US" sz="3200" b="1"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509095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84FD8-2CA1-FC22-A968-B5A544ACB45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91E5B-CF79-A67D-08A0-423819512992}"/>
              </a:ext>
            </a:extLst>
          </p:cNvPr>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2054" name="Rectangle 6">
            <a:extLst>
              <a:ext uri="{FF2B5EF4-FFF2-40B4-BE49-F238E27FC236}">
                <a16:creationId xmlns:a16="http://schemas.microsoft.com/office/drawing/2014/main" id="{6BE83739-F4C4-CD33-C15F-A75FC7974699}"/>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a:extLst>
              <a:ext uri="{FF2B5EF4-FFF2-40B4-BE49-F238E27FC236}">
                <a16:creationId xmlns:a16="http://schemas.microsoft.com/office/drawing/2014/main" id="{4C210D60-D8F7-B217-C9BA-E7407BE0AD81}"/>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a:extLst>
              <a:ext uri="{FF2B5EF4-FFF2-40B4-BE49-F238E27FC236}">
                <a16:creationId xmlns:a16="http://schemas.microsoft.com/office/drawing/2014/main" id="{1BF34366-335A-3D89-3084-385EE104900E}"/>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a:extLst>
              <a:ext uri="{FF2B5EF4-FFF2-40B4-BE49-F238E27FC236}">
                <a16:creationId xmlns:a16="http://schemas.microsoft.com/office/drawing/2014/main" id="{00E2602A-9A3B-6B8D-18BC-0F8B9B0EC65C}"/>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a:extLst>
              <a:ext uri="{FF2B5EF4-FFF2-40B4-BE49-F238E27FC236}">
                <a16:creationId xmlns:a16="http://schemas.microsoft.com/office/drawing/2014/main" id="{05A2F2D9-81DA-0167-B3DE-E1AA8220EC3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a:extLst>
              <a:ext uri="{FF2B5EF4-FFF2-40B4-BE49-F238E27FC236}">
                <a16:creationId xmlns:a16="http://schemas.microsoft.com/office/drawing/2014/main" id="{A1CE73F9-409D-8537-21C8-FA34A37F02B9}"/>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a:extLst>
              <a:ext uri="{FF2B5EF4-FFF2-40B4-BE49-F238E27FC236}">
                <a16:creationId xmlns:a16="http://schemas.microsoft.com/office/drawing/2014/main" id="{4E5D50BF-211C-923A-8AFF-ECDEE670BE9D}"/>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ABAFC8EF-7105-1F12-72C0-0086097AD1E1}"/>
              </a:ext>
            </a:extLst>
          </p:cNvPr>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a:extLst>
              <a:ext uri="{FF2B5EF4-FFF2-40B4-BE49-F238E27FC236}">
                <a16:creationId xmlns:a16="http://schemas.microsoft.com/office/drawing/2014/main" id="{C803691E-F49E-EB07-B8C5-E055D355D32D}"/>
              </a:ext>
            </a:extLst>
          </p:cNvPr>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a:extLst>
              <a:ext uri="{FF2B5EF4-FFF2-40B4-BE49-F238E27FC236}">
                <a16:creationId xmlns:a16="http://schemas.microsoft.com/office/drawing/2014/main" id="{1391143F-64E5-90EA-E01C-CD4EE163ED36}"/>
              </a:ext>
            </a:extLst>
          </p:cNvPr>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because he is a vision from Jeffrey’s imagination. Therefore (B) is incorrect. Jeffrey detests the man he sees, but the man does not appear to be a source of embarrassment to him. Therefore (C) is incorrect. An antagonist is someone who directly opposes another person. Jeffrey hates the man, but it is because of the life the man leads, not because the man directly opposes him, so the man is not an antagonist. Therefore (D) is incorrect. Again, though Jeffrey hates the man, the man does not do anything that makes the man a problem for Jeffrey. Therefore (E) is incorrect</a:t>
            </a:r>
            <a:endParaRPr lang="en-US" sz="3200" b="1"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42790290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2" imgW="114120" imgH="672840" progId="Equation.3">
                  <p:embed/>
                </p:oleObj>
              </mc:Choice>
              <mc:Fallback>
                <p:oleObj name="Equation" r:id="rId2" imgW="114120" imgH="672840" progId="Equation.3">
                  <p:embed/>
                  <p:pic>
                    <p:nvPicPr>
                      <p:cNvPr id="13"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Question 8</a:t>
            </a:r>
            <a:endParaRPr lang="en-US" dirty="0"/>
          </a:p>
        </p:txBody>
      </p:sp>
      <p:sp>
        <p:nvSpPr>
          <p:cNvPr id="15" name="Content Placeholder 2"/>
          <p:cNvSpPr txBox="1">
            <a:spLocks/>
          </p:cNvSpPr>
          <p:nvPr/>
        </p:nvSpPr>
        <p:spPr>
          <a:xfrm>
            <a:off x="0" y="6096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As used in paragraph 5, to have an imperious manner means to be: </a:t>
            </a:r>
          </a:p>
          <a:p>
            <a:pPr marL="342900" indent="-342900" algn="just">
              <a:spcBef>
                <a:spcPct val="20000"/>
              </a:spcBef>
              <a:buFont typeface="Arial" pitchFamily="34" charset="0"/>
              <a:buChar char="•"/>
              <a:defRPr/>
            </a:pPr>
            <a:endParaRPr lang="en-US" sz="3200" dirty="0">
              <a:latin typeface="Times New Roman" panose="02020603050405020304" pitchFamily="18" charset="0"/>
              <a:cs typeface="Times New Roman" panose="02020603050405020304" pitchFamily="18" charset="0"/>
            </a:endParaRP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A. ignorant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B. stoic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C. simpering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D. unaffected </a:t>
            </a:r>
          </a:p>
          <a:p>
            <a:pPr marL="342900" indent="-342900" algn="just">
              <a:spcBef>
                <a:spcPct val="20000"/>
              </a:spcBef>
              <a:buFont typeface="Arial" pitchFamily="34" charset="0"/>
              <a:buChar char="•"/>
              <a:defRPr/>
            </a:pPr>
            <a:r>
              <a:rPr lang="en-US" sz="3200" dirty="0">
                <a:latin typeface="Times New Roman" panose="02020603050405020304" pitchFamily="18" charset="0"/>
                <a:cs typeface="Times New Roman" panose="02020603050405020304" pitchFamily="18" charset="0"/>
              </a:rPr>
              <a:t>E. domineering</a:t>
            </a:r>
          </a:p>
        </p:txBody>
      </p:sp>
    </p:spTree>
    <p:extLst>
      <p:ext uri="{BB962C8B-B14F-4D97-AF65-F5344CB8AC3E}">
        <p14:creationId xmlns:p14="http://schemas.microsoft.com/office/powerpoint/2010/main" val="7081369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p:cNvSpPr txBox="1">
            <a:spLocks/>
          </p:cNvSpPr>
          <p:nvPr/>
        </p:nvSpPr>
        <p:spPr>
          <a:xfrm>
            <a:off x="0" y="457200"/>
            <a:ext cx="9144000" cy="1143000"/>
          </a:xfrm>
          <a:prstGeom prst="rect">
            <a:avLst/>
          </a:prstGeom>
        </p:spPr>
        <p:txBody>
          <a:bodyPr vert="horz" lIns="91440" tIns="45720" rIns="91440" bIns="45720" rtlCol="0">
            <a:noAutofit/>
          </a:bodyPr>
          <a:lstStyle/>
          <a:p>
            <a:pPr marL="342900" indent="-342900" algn="just">
              <a:spcBef>
                <a:spcPct val="20000"/>
              </a:spcBef>
              <a:buFont typeface="Arial" pitchFamily="34" charset="0"/>
              <a:buChar char="•"/>
              <a:defRPr/>
            </a:pPr>
            <a:r>
              <a:rPr lang="en-US" sz="3200" b="1" dirty="0">
                <a:latin typeface="Times New Roman" panose="02020603050405020304" pitchFamily="18" charset="0"/>
                <a:cs typeface="Times New Roman" pitchFamily="18" charset="0"/>
              </a:rPr>
              <a:t>E </a:t>
            </a:r>
            <a:endParaRPr lang="en-US" sz="3200" dirty="0">
              <a:latin typeface="Times New Roman" panose="02020603050405020304" pitchFamily="18" charset="0"/>
              <a:cs typeface="Times New Roman" pitchFamily="18" charset="0"/>
            </a:endParaRPr>
          </a:p>
          <a:p>
            <a:pPr algn="just"/>
            <a:endParaRPr lang="en-US" sz="3200" dirty="0">
              <a:latin typeface="Times New Roman" panose="02020603050405020304" pitchFamily="18" charset="0"/>
              <a:cs typeface="Times New Roman" pitchFamily="18" charset="0"/>
            </a:endParaRPr>
          </a:p>
          <a:p>
            <a:pPr algn="just"/>
            <a:r>
              <a:rPr lang="en-US" sz="3200" dirty="0">
                <a:latin typeface="Times New Roman" panose="02020603050405020304" pitchFamily="18" charset="0"/>
                <a:cs typeface="Times New Roman" pitchFamily="18" charset="0"/>
              </a:rPr>
              <a:t>imperious: overbearing, arrogant and domineering. </a:t>
            </a:r>
          </a:p>
          <a:p>
            <a:pPr algn="just"/>
            <a:endParaRPr lang="en-US" sz="3200" dirty="0">
              <a:latin typeface="Times New Roman" panose="02020603050405020304" pitchFamily="18" charset="0"/>
              <a:cs typeface="Times New Roman" pitchFamily="18" charset="0"/>
            </a:endParaRPr>
          </a:p>
          <a:p>
            <a:pPr algn="just"/>
            <a:r>
              <a:rPr lang="en-US" sz="3200" dirty="0">
                <a:latin typeface="Times New Roman" panose="02020603050405020304" pitchFamily="18" charset="0"/>
                <a:cs typeface="Times New Roman" pitchFamily="18" charset="0"/>
              </a:rPr>
              <a:t>In paragraph 5, the story states, “He had climbed the upper echelons of the Wall Street firm using an imperious manner with his subordinates: issuing directives; ordaining idiosyncratic decrees; generally making certain everyone knew he was the boss.” This means that the man gave orders, created peculiar rules and did whatever he could to let people know that he was in charge. The reader can infer from this information that someone with an imperious manner</a:t>
            </a:r>
          </a:p>
        </p:txBody>
      </p:sp>
    </p:spTree>
    <p:extLst>
      <p:ext uri="{BB962C8B-B14F-4D97-AF65-F5344CB8AC3E}">
        <p14:creationId xmlns:p14="http://schemas.microsoft.com/office/powerpoint/2010/main" val="28308444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D9120-2997-CA42-6C19-1AD2DF3F7B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2D0683-3347-03BC-8A25-B0756605D49D}"/>
              </a:ext>
            </a:extLst>
          </p:cNvPr>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8" name="TextBox 7">
            <a:extLst>
              <a:ext uri="{FF2B5EF4-FFF2-40B4-BE49-F238E27FC236}">
                <a16:creationId xmlns:a16="http://schemas.microsoft.com/office/drawing/2014/main" id="{F621EED0-41B7-1B13-0633-073B1050C610}"/>
              </a:ext>
            </a:extLst>
          </p:cNvPr>
          <p:cNvSpPr txBox="1"/>
          <p:nvPr/>
        </p:nvSpPr>
        <p:spPr>
          <a:xfrm>
            <a:off x="228600" y="685800"/>
            <a:ext cx="8610600" cy="12772727"/>
          </a:xfrm>
          <a:prstGeom prst="rect">
            <a:avLst/>
          </a:prstGeom>
          <a:noFill/>
        </p:spPr>
        <p:txBody>
          <a:bodyPr wrap="square" rtlCol="0">
            <a:spAutoFit/>
          </a:bodyPr>
          <a:lstStyle/>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b="1"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
        <p:nvSpPr>
          <p:cNvPr id="2054" name="Rectangle 6">
            <a:extLst>
              <a:ext uri="{FF2B5EF4-FFF2-40B4-BE49-F238E27FC236}">
                <a16:creationId xmlns:a16="http://schemas.microsoft.com/office/drawing/2014/main" id="{ABD28676-EF06-50DC-C499-3437DDA58AF0}"/>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a:extLst>
              <a:ext uri="{FF2B5EF4-FFF2-40B4-BE49-F238E27FC236}">
                <a16:creationId xmlns:a16="http://schemas.microsoft.com/office/drawing/2014/main" id="{13682315-C5D4-C2E8-C8FD-13C6360DE2D0}"/>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a:extLst>
              <a:ext uri="{FF2B5EF4-FFF2-40B4-BE49-F238E27FC236}">
                <a16:creationId xmlns:a16="http://schemas.microsoft.com/office/drawing/2014/main" id="{FCE27289-2E0B-02AE-BA49-F2CBCB2EABA4}"/>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a:extLst>
              <a:ext uri="{FF2B5EF4-FFF2-40B4-BE49-F238E27FC236}">
                <a16:creationId xmlns:a16="http://schemas.microsoft.com/office/drawing/2014/main" id="{A5804DD2-9830-54B0-FF1C-229D843240BD}"/>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a:extLst>
              <a:ext uri="{FF2B5EF4-FFF2-40B4-BE49-F238E27FC236}">
                <a16:creationId xmlns:a16="http://schemas.microsoft.com/office/drawing/2014/main" id="{345783CC-04E2-CFEA-2952-1542E6413ABB}"/>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a:extLst>
              <a:ext uri="{FF2B5EF4-FFF2-40B4-BE49-F238E27FC236}">
                <a16:creationId xmlns:a16="http://schemas.microsoft.com/office/drawing/2014/main" id="{BEDD0A9B-EB32-8097-5EC5-8788D687D787}"/>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a:extLst>
              <a:ext uri="{FF2B5EF4-FFF2-40B4-BE49-F238E27FC236}">
                <a16:creationId xmlns:a16="http://schemas.microsoft.com/office/drawing/2014/main" id="{1E8899A0-829F-1C8E-FA29-0323A3994F76}"/>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E1F2F69B-DA29-694E-4FF6-C937213D2BFC}"/>
              </a:ext>
            </a:extLst>
          </p:cNvPr>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a:extLst>
              <a:ext uri="{FF2B5EF4-FFF2-40B4-BE49-F238E27FC236}">
                <a16:creationId xmlns:a16="http://schemas.microsoft.com/office/drawing/2014/main" id="{8205BB9A-1484-CF5F-D927-5F6B88DDD210}"/>
              </a:ext>
            </a:extLst>
          </p:cNvPr>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a:extLst>
              <a:ext uri="{FF2B5EF4-FFF2-40B4-BE49-F238E27FC236}">
                <a16:creationId xmlns:a16="http://schemas.microsoft.com/office/drawing/2014/main" id="{85B5CAC0-B6E7-9ABF-DDE9-F55FEEC5DB23}"/>
              </a:ext>
            </a:extLst>
          </p:cNvPr>
          <p:cNvSpPr txBox="1">
            <a:spLocks/>
          </p:cNvSpPr>
          <p:nvPr/>
        </p:nvSpPr>
        <p:spPr>
          <a:xfrm>
            <a:off x="0" y="773152"/>
            <a:ext cx="9144000" cy="1143000"/>
          </a:xfrm>
          <a:prstGeom prst="rect">
            <a:avLst/>
          </a:prstGeom>
        </p:spPr>
        <p:txBody>
          <a:bodyPr vert="horz" lIns="91440" tIns="45720" rIns="91440" bIns="45720" rtlCol="0">
            <a:noAutofit/>
          </a:bodyPr>
          <a:lstStyle/>
          <a:p>
            <a:pPr algn="just"/>
            <a:r>
              <a:rPr lang="en-US" sz="3200" dirty="0">
                <a:latin typeface="Times New Roman" panose="02020603050405020304" pitchFamily="18" charset="0"/>
                <a:cs typeface="Times New Roman" panose="02020603050405020304" pitchFamily="18" charset="0"/>
              </a:rPr>
              <a:t>tends to order others around. Someone who orders others around is domineering. Therefore (E) is correct.</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Someone who is ignorant is unaware. The man was imperious because he ordered others around, not because he was unaware. Therefore (A) is incorrect. Someone who is stoic does not display emotion. The man ordered everyone around, but we do not know if the man acted without emotion. Therefore (B) is incorrect. Someone who is simpering smiles in a silly, self-conscious way. It is unlikely an arrogant man giving orders with such authority would smile in a</a:t>
            </a:r>
          </a:p>
        </p:txBody>
      </p:sp>
    </p:spTree>
    <p:extLst>
      <p:ext uri="{BB962C8B-B14F-4D97-AF65-F5344CB8AC3E}">
        <p14:creationId xmlns:p14="http://schemas.microsoft.com/office/powerpoint/2010/main" val="32102581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87128-AD9B-34AC-30BB-E30AF7A78A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2A748C-B7C5-1EBB-722A-8C1FFA144F3C}"/>
              </a:ext>
            </a:extLst>
          </p:cNvPr>
          <p:cNvSpPr>
            <a:spLocks noGrp="1"/>
          </p:cNvSpPr>
          <p:nvPr>
            <p:ph idx="1"/>
          </p:nvPr>
        </p:nvSpPr>
        <p:spPr/>
        <p:txBody>
          <a:bodyPr>
            <a:normAutofit/>
          </a:bodyPr>
          <a:lstStyle/>
          <a:p>
            <a:endParaRPr lang="en-US" dirty="0">
              <a:latin typeface="Times New Roman" pitchFamily="18" charset="0"/>
              <a:cs typeface="Times New Roman" pitchFamily="18" charset="0"/>
            </a:endParaRPr>
          </a:p>
          <a:p>
            <a:pPr lvl="2"/>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
        <p:nvSpPr>
          <p:cNvPr id="2054" name="Rectangle 6">
            <a:extLst>
              <a:ext uri="{FF2B5EF4-FFF2-40B4-BE49-F238E27FC236}">
                <a16:creationId xmlns:a16="http://schemas.microsoft.com/office/drawing/2014/main" id="{0BC49101-A68C-9C87-1FEE-A378E649A9E1}"/>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6" name="Rectangle 8">
            <a:extLst>
              <a:ext uri="{FF2B5EF4-FFF2-40B4-BE49-F238E27FC236}">
                <a16:creationId xmlns:a16="http://schemas.microsoft.com/office/drawing/2014/main" id="{79C8A5C6-686B-0266-F53B-08DBB0E8C80E}"/>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8" name="Rectangle 10">
            <a:extLst>
              <a:ext uri="{FF2B5EF4-FFF2-40B4-BE49-F238E27FC236}">
                <a16:creationId xmlns:a16="http://schemas.microsoft.com/office/drawing/2014/main" id="{86EE82FA-8CB7-582C-27FB-A64E40E8ED13}"/>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2" name="Rectangle 2">
            <a:extLst>
              <a:ext uri="{FF2B5EF4-FFF2-40B4-BE49-F238E27FC236}">
                <a16:creationId xmlns:a16="http://schemas.microsoft.com/office/drawing/2014/main" id="{3201D736-6C92-8528-37B2-3712B52AB926}"/>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4" name="Rectangle 4">
            <a:extLst>
              <a:ext uri="{FF2B5EF4-FFF2-40B4-BE49-F238E27FC236}">
                <a16:creationId xmlns:a16="http://schemas.microsoft.com/office/drawing/2014/main" id="{1BD159B0-6E1B-93CE-4B49-D554F18C8D46}"/>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6" name="Rectangle 6">
            <a:extLst>
              <a:ext uri="{FF2B5EF4-FFF2-40B4-BE49-F238E27FC236}">
                <a16:creationId xmlns:a16="http://schemas.microsoft.com/office/drawing/2014/main" id="{AB721F11-E1EF-7D85-7A83-30A9801962D7}"/>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1208" name="Rectangle 8">
            <a:extLst>
              <a:ext uri="{FF2B5EF4-FFF2-40B4-BE49-F238E27FC236}">
                <a16:creationId xmlns:a16="http://schemas.microsoft.com/office/drawing/2014/main" id="{E4B2A781-1400-8549-4570-3A28CD3F443C}"/>
              </a:ext>
            </a:extLst>
          </p:cNvPr>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27A4CA7C-7C11-3ABE-769D-43C82A54F393}"/>
              </a:ext>
            </a:extLst>
          </p:cNvPr>
          <p:cNvGraphicFramePr>
            <a:graphicFrameLocks noChangeAspect="1"/>
          </p:cNvGraphicFramePr>
          <p:nvPr/>
        </p:nvGraphicFramePr>
        <p:xfrm>
          <a:off x="4514850" y="3092450"/>
          <a:ext cx="114300" cy="673100"/>
        </p:xfrm>
        <a:graphic>
          <a:graphicData uri="http://schemas.openxmlformats.org/presentationml/2006/ole">
            <mc:AlternateContent xmlns:mc="http://schemas.openxmlformats.org/markup-compatibility/2006">
              <mc:Choice xmlns:v="urn:schemas-microsoft-com:vml" Requires="v">
                <p:oleObj name="Equation" r:id="rId3" imgW="114120" imgH="672840" progId="Equation.3">
                  <p:embed/>
                </p:oleObj>
              </mc:Choice>
              <mc:Fallback>
                <p:oleObj name="Equation" r:id="rId3" imgW="114120" imgH="672840" progId="Equation.3">
                  <p:embed/>
                  <p:pic>
                    <p:nvPicPr>
                      <p:cNvPr id="13" name="Object 12">
                        <a:extLst>
                          <a:ext uri="{FF2B5EF4-FFF2-40B4-BE49-F238E27FC236}">
                            <a16:creationId xmlns:a16="http://schemas.microsoft.com/office/drawing/2014/main" id="{E1F2F69B-DA29-694E-4FF6-C937213D2B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092450"/>
                        <a:ext cx="114300"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itle 1">
            <a:extLst>
              <a:ext uri="{FF2B5EF4-FFF2-40B4-BE49-F238E27FC236}">
                <a16:creationId xmlns:a16="http://schemas.microsoft.com/office/drawing/2014/main" id="{177A651C-9F2C-7CAB-375E-05766627DE71}"/>
              </a:ext>
            </a:extLst>
          </p:cNvPr>
          <p:cNvSpPr>
            <a:spLocks noGrp="1"/>
          </p:cNvSpPr>
          <p:nvPr>
            <p:ph type="title"/>
          </p:nvPr>
        </p:nvSpPr>
        <p:spPr>
          <a:xfrm>
            <a:off x="304800" y="-304800"/>
            <a:ext cx="8229600" cy="1143000"/>
          </a:xfrm>
        </p:spPr>
        <p:txBody>
          <a:bodyPr>
            <a:normAutofit/>
          </a:bodyPr>
          <a:lstStyle/>
          <a:p>
            <a:r>
              <a:rPr lang="en-US" dirty="0">
                <a:latin typeface="Times New Roman" pitchFamily="18" charset="0"/>
                <a:cs typeface="Times New Roman" pitchFamily="18" charset="0"/>
              </a:rPr>
              <a:t>Answer</a:t>
            </a:r>
            <a:endParaRPr lang="en-US" dirty="0"/>
          </a:p>
        </p:txBody>
      </p:sp>
      <p:sp>
        <p:nvSpPr>
          <p:cNvPr id="15" name="Content Placeholder 2">
            <a:extLst>
              <a:ext uri="{FF2B5EF4-FFF2-40B4-BE49-F238E27FC236}">
                <a16:creationId xmlns:a16="http://schemas.microsoft.com/office/drawing/2014/main" id="{281F0649-9519-87E3-C634-8D36503A7788}"/>
              </a:ext>
            </a:extLst>
          </p:cNvPr>
          <p:cNvSpPr txBox="1">
            <a:spLocks/>
          </p:cNvSpPr>
          <p:nvPr/>
        </p:nvSpPr>
        <p:spPr>
          <a:xfrm>
            <a:off x="0" y="773152"/>
            <a:ext cx="9144000" cy="1143000"/>
          </a:xfrm>
          <a:prstGeom prst="rect">
            <a:avLst/>
          </a:prstGeom>
        </p:spPr>
        <p:txBody>
          <a:bodyPr vert="horz" lIns="91440" tIns="45720" rIns="91440" bIns="45720" rtlCol="0">
            <a:noAutofit/>
          </a:bodyPr>
          <a:lstStyle/>
          <a:p>
            <a:pPr algn="just"/>
            <a:r>
              <a:rPr lang="en-US" sz="3200" dirty="0">
                <a:latin typeface="Times New Roman" panose="02020603050405020304" pitchFamily="18" charset="0"/>
                <a:cs typeface="Times New Roman" panose="02020603050405020304" pitchFamily="18" charset="0"/>
              </a:rPr>
              <a:t>silly way.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Therefore (C) is incorrect. Someone who is unaffected is genuine. The man’s manner was overbearing, not genuine. Therefore (D) is incorrect.</a:t>
            </a:r>
          </a:p>
        </p:txBody>
      </p:sp>
    </p:spTree>
    <p:extLst>
      <p:ext uri="{BB962C8B-B14F-4D97-AF65-F5344CB8AC3E}">
        <p14:creationId xmlns:p14="http://schemas.microsoft.com/office/powerpoint/2010/main" val="13579965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79800</TotalTime>
  <Words>3103</Words>
  <Application>Microsoft Office PowerPoint</Application>
  <PresentationFormat>On-screen Show (4:3)</PresentationFormat>
  <Paragraphs>954</Paragraphs>
  <Slides>37</Slides>
  <Notes>33</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2" baseType="lpstr">
      <vt:lpstr>Arial</vt:lpstr>
      <vt:lpstr>Calibri</vt:lpstr>
      <vt:lpstr>Times New Roman</vt:lpstr>
      <vt:lpstr>Office Theme</vt:lpstr>
      <vt:lpstr>Equation</vt:lpstr>
      <vt:lpstr>English Composition &amp; Comprehension</vt:lpstr>
      <vt:lpstr>Lecture Outline</vt:lpstr>
      <vt:lpstr>Seeing Through</vt:lpstr>
      <vt:lpstr>Seeing Through</vt:lpstr>
      <vt:lpstr>Seeing Through</vt:lpstr>
      <vt:lpstr>Seeing Through</vt:lpstr>
      <vt:lpstr>Seeing Through</vt:lpstr>
      <vt:lpstr>Seeing Through</vt:lpstr>
      <vt:lpstr>Question 1</vt:lpstr>
      <vt:lpstr>Answer</vt:lpstr>
      <vt:lpstr>PowerPoint Presentation</vt:lpstr>
      <vt:lpstr>Question 2</vt:lpstr>
      <vt:lpstr>Answer</vt:lpstr>
      <vt:lpstr>Answer</vt:lpstr>
      <vt:lpstr>Question 3</vt:lpstr>
      <vt:lpstr>Answer</vt:lpstr>
      <vt:lpstr>Answer</vt:lpstr>
      <vt:lpstr>Answer</vt:lpstr>
      <vt:lpstr>Question 4</vt:lpstr>
      <vt:lpstr>Answer</vt:lpstr>
      <vt:lpstr>Answer</vt:lpstr>
      <vt:lpstr>Answer</vt:lpstr>
      <vt:lpstr>Question 5</vt:lpstr>
      <vt:lpstr>Question 5</vt:lpstr>
      <vt:lpstr>Answer</vt:lpstr>
      <vt:lpstr>Answer</vt:lpstr>
      <vt:lpstr>Question 6</vt:lpstr>
      <vt:lpstr>Answer</vt:lpstr>
      <vt:lpstr>Answer</vt:lpstr>
      <vt:lpstr>Question 7</vt:lpstr>
      <vt:lpstr>Answer</vt:lpstr>
      <vt:lpstr>Answer</vt:lpstr>
      <vt:lpstr>Answer</vt:lpstr>
      <vt:lpstr>Question 8</vt:lpstr>
      <vt:lpstr>Answer</vt:lpstr>
      <vt:lpstr>Answer</vt:lpstr>
      <vt:lpstr>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Statistics, and Random Processes for Electrical Engineering</dc:title>
  <dc:creator>Abu Bakr</dc:creator>
  <cp:lastModifiedBy>Abu Bakr</cp:lastModifiedBy>
  <cp:revision>3178</cp:revision>
  <dcterms:created xsi:type="dcterms:W3CDTF">2006-08-16T00:00:00Z</dcterms:created>
  <dcterms:modified xsi:type="dcterms:W3CDTF">2026-04-18T06:18:16Z</dcterms:modified>
</cp:coreProperties>
</file>